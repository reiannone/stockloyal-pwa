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1" r:id="rId3"/>
    <p:sldId id="262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566F"/>
    <a:srgbClr val="5E6986"/>
    <a:srgbClr val="D7F2ED"/>
    <a:srgbClr val="313849"/>
    <a:srgbClr val="4B546D"/>
    <a:srgbClr val="6E7A9B"/>
    <a:srgbClr val="3C4056"/>
    <a:srgbClr val="212434"/>
    <a:srgbClr val="FFFFFF"/>
    <a:srgbClr val="F0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72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99F1E-9F16-45A0-B7A4-8B1E1A3BA92C}" type="doc">
      <dgm:prSet loTypeId="urn:microsoft.com/office/officeart/2016/7/layout/ChevronBlockProcess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73B1238-7923-48C7-ABE9-FACBBB3832A7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Launch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10A1987A-D226-4C52-BA41-D89284095598}" type="parTrans" cxnId="{11829905-B4DB-4799-B4D3-03A24CCFFE19}">
      <dgm:prSet/>
      <dgm:spPr/>
      <dgm:t>
        <a:bodyPr/>
        <a:lstStyle/>
        <a:p>
          <a:endParaRPr lang="en-US" sz="1200"/>
        </a:p>
      </dgm:t>
    </dgm:pt>
    <dgm:pt modelId="{34E5E44F-CDAA-4BCB-B3F8-26B37AAAF740}" type="sibTrans" cxnId="{11829905-B4DB-4799-B4D3-03A24CCFFE19}">
      <dgm:prSet/>
      <dgm:spPr/>
      <dgm:t>
        <a:bodyPr/>
        <a:lstStyle/>
        <a:p>
          <a:endParaRPr lang="en-US" sz="1200"/>
        </a:p>
      </dgm:t>
    </dgm:pt>
    <dgm:pt modelId="{9E9DB2D8-3307-483E-A2F2-01A117A2DCD5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Eligible loyalty members gain access to StockLoyal
Minimum points and tier requirements enforced
Investment feature enabled within merchant program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0F2643D4-9D26-426A-AB3B-B5C89018B4A7}" type="parTrans" cxnId="{2DF53028-2A18-4F86-AE85-D630E6E4BC83}">
      <dgm:prSet/>
      <dgm:spPr/>
      <dgm:t>
        <a:bodyPr/>
        <a:lstStyle/>
        <a:p>
          <a:endParaRPr lang="en-US"/>
        </a:p>
      </dgm:t>
    </dgm:pt>
    <dgm:pt modelId="{699163D7-6CC3-453E-9CA1-63A0DC9C5BFF}" type="sibTrans" cxnId="{2DF53028-2A18-4F86-AE85-D630E6E4BC83}">
      <dgm:prSet/>
      <dgm:spPr/>
      <dgm:t>
        <a:bodyPr/>
        <a:lstStyle/>
        <a:p>
          <a:endParaRPr lang="en-US"/>
        </a:p>
      </dgm:t>
    </dgm:pt>
    <dgm:pt modelId="{65C0A787-3CC5-424D-B175-F3D9E5EB30A5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Member Profile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8614B48E-2955-49F5-B7E3-AC013072F50F}" type="parTrans" cxnId="{178FD743-A999-49B7-8E8E-01BC482ACB82}">
      <dgm:prSet/>
      <dgm:spPr/>
      <dgm:t>
        <a:bodyPr/>
        <a:lstStyle/>
        <a:p>
          <a:endParaRPr lang="en-US"/>
        </a:p>
      </dgm:t>
    </dgm:pt>
    <dgm:pt modelId="{BC45C334-BE47-47DF-8DD6-6211B4CA4C2A}" type="sibTrans" cxnId="{178FD743-A999-49B7-8E8E-01BC482ACB82}">
      <dgm:prSet/>
      <dgm:spPr/>
      <dgm:t>
        <a:bodyPr/>
        <a:lstStyle/>
        <a:p>
          <a:endParaRPr lang="en-US"/>
        </a:p>
      </dgm:t>
    </dgm:pt>
    <dgm:pt modelId="{40F8A7C4-B85F-4483-A26E-BB926800E492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Provide basic profile information
Upload profile photo (optional)
Personalize account and social features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89FF5F54-3575-41BC-85E1-F0CC2AB848D5}" type="parTrans" cxnId="{4965DBEC-D267-4755-B2B0-80DB81ACE87E}">
      <dgm:prSet/>
      <dgm:spPr/>
      <dgm:t>
        <a:bodyPr/>
        <a:lstStyle/>
        <a:p>
          <a:endParaRPr lang="en-US"/>
        </a:p>
      </dgm:t>
    </dgm:pt>
    <dgm:pt modelId="{DF0CF934-6E23-49C4-8EB9-5CD05FC322DE}" type="sibTrans" cxnId="{4965DBEC-D267-4755-B2B0-80DB81ACE87E}">
      <dgm:prSet/>
      <dgm:spPr/>
      <dgm:t>
        <a:bodyPr/>
        <a:lstStyle/>
        <a:p>
          <a:endParaRPr lang="en-US"/>
        </a:p>
      </dgm:t>
    </dgm:pt>
    <dgm:pt modelId="{FA5886CF-FD51-4E44-AD83-263774312FC7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Select Broker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1370997F-5624-48AD-A9B0-A4AE9C593577}" type="parTrans" cxnId="{F52D785F-7A52-4C0D-B31C-E4F49FDC23C2}">
      <dgm:prSet/>
      <dgm:spPr/>
      <dgm:t>
        <a:bodyPr/>
        <a:lstStyle/>
        <a:p>
          <a:endParaRPr lang="en-US"/>
        </a:p>
      </dgm:t>
    </dgm:pt>
    <dgm:pt modelId="{4745C1C1-D847-4A44-A276-F05D1976F4FF}" type="sibTrans" cxnId="{F52D785F-7A52-4C0D-B31C-E4F49FDC23C2}">
      <dgm:prSet/>
      <dgm:spPr/>
      <dgm:t>
        <a:bodyPr/>
        <a:lstStyle/>
        <a:p>
          <a:endParaRPr lang="en-US"/>
        </a:p>
      </dgm:t>
    </dgm:pt>
    <dgm:pt modelId="{6CEFB56B-185C-4498-A5CF-7F9FD774AEE9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Member must have an active brokerage account
Broker must support fractional shares
Member securely links broker credentials
Credentials are not visible to StockLoyal
Broker confirms account connection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54375097-F752-4D17-90DD-CAFC058A0687}" type="parTrans" cxnId="{065EF615-78EE-4E9F-9D4F-B710F30A5468}">
      <dgm:prSet/>
      <dgm:spPr/>
      <dgm:t>
        <a:bodyPr/>
        <a:lstStyle/>
        <a:p>
          <a:endParaRPr lang="en-US"/>
        </a:p>
      </dgm:t>
    </dgm:pt>
    <dgm:pt modelId="{86F3C468-B52D-4E75-93A5-B7C113152FDE}" type="sibTrans" cxnId="{065EF615-78EE-4E9F-9D4F-B710F30A5468}">
      <dgm:prSet/>
      <dgm:spPr/>
      <dgm:t>
        <a:bodyPr/>
        <a:lstStyle/>
        <a:p>
          <a:endParaRPr lang="en-US"/>
        </a:p>
      </dgm:t>
    </dgm:pt>
    <dgm:pt modelId="{EB07E3FC-8A45-42C4-AB09-4E42FB8C56F9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Choose investment frequency:
</a:t>
          </a:r>
          <a:r>
            <a:rPr lang="en-US" sz="1050" b="1">
              <a:latin typeface="Calibri" panose="020F0502020204030204"/>
              <a:ea typeface="+mn-ea"/>
              <a:cs typeface="+mn-cs"/>
            </a:rPr>
            <a:t>One-Time</a:t>
          </a:r>
          <a:r>
            <a:rPr lang="en-US" sz="1050">
              <a:latin typeface="Calibri" panose="020F0502020204030204"/>
              <a:ea typeface="+mn-ea"/>
              <a:cs typeface="+mn-cs"/>
            </a:rPr>
            <a:t>, Basket executes once
Basket cleared after execution
</a:t>
          </a:r>
          <a:r>
            <a:rPr lang="en-US" sz="1050" b="1">
              <a:latin typeface="Calibri" panose="020F0502020204030204"/>
              <a:ea typeface="+mn-ea"/>
              <a:cs typeface="+mn-cs"/>
            </a:rPr>
            <a:t>Monthly</a:t>
          </a:r>
          <a:r>
            <a:rPr lang="en-US" sz="1050">
              <a:latin typeface="Calibri" panose="020F0502020204030204"/>
              <a:ea typeface="+mn-ea"/>
              <a:cs typeface="+mn-cs"/>
            </a:rPr>
            <a:t>, Recurring sweep process
Executes when sufficient points are available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F9EAB302-310D-4814-BAC3-BFE4BF9D317C}" type="parTrans" cxnId="{5A3EE29B-ECB5-4A50-AE4F-DFB614874F55}">
      <dgm:prSet/>
      <dgm:spPr/>
      <dgm:t>
        <a:bodyPr/>
        <a:lstStyle/>
        <a:p>
          <a:endParaRPr lang="en-US"/>
        </a:p>
      </dgm:t>
    </dgm:pt>
    <dgm:pt modelId="{01038DEA-3A01-4463-BD06-FD921EFC8D17}" type="sibTrans" cxnId="{5A3EE29B-ECB5-4A50-AE4F-DFB614874F55}">
      <dgm:prSet/>
      <dgm:spPr/>
      <dgm:t>
        <a:bodyPr/>
        <a:lstStyle/>
        <a:p>
          <a:endParaRPr lang="en-US"/>
        </a:p>
      </dgm:t>
    </dgm:pt>
    <dgm:pt modelId="{579AB975-B118-4E07-A06C-6B86D69C20CE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Investment Election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CBEF76F3-2114-42EC-82B9-8B51B93AF6C5}" type="parTrans" cxnId="{A513A388-A9DD-4E46-A16F-8D5615FC35C9}">
      <dgm:prSet/>
      <dgm:spPr/>
      <dgm:t>
        <a:bodyPr/>
        <a:lstStyle/>
        <a:p>
          <a:endParaRPr lang="en-US"/>
        </a:p>
      </dgm:t>
    </dgm:pt>
    <dgm:pt modelId="{FAB715FC-A1E2-4E3B-B7DF-2987C12AD6C5}" type="sibTrans" cxnId="{A513A388-A9DD-4E46-A16F-8D5615FC35C9}">
      <dgm:prSet/>
      <dgm:spPr/>
      <dgm:t>
        <a:bodyPr/>
        <a:lstStyle/>
        <a:p>
          <a:endParaRPr lang="en-US"/>
        </a:p>
      </dgm:t>
    </dgm:pt>
    <dgm:pt modelId="{4E42D4CE-47D6-4454-9E07-F2CD751F7210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View available loyalty points
See cash-equivalent value (based on conversion rate)
Access transaction history
View order history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9746F7E6-44A0-41B2-9980-7A1612C78A13}" type="parTrans" cxnId="{47620875-9EB0-4F87-BCF9-95CFC78C0BA8}">
      <dgm:prSet/>
      <dgm:spPr/>
      <dgm:t>
        <a:bodyPr/>
        <a:lstStyle/>
        <a:p>
          <a:endParaRPr lang="en-US"/>
        </a:p>
      </dgm:t>
    </dgm:pt>
    <dgm:pt modelId="{9230709E-2B60-4E94-A167-15C747583E3D}" type="sibTrans" cxnId="{47620875-9EB0-4F87-BCF9-95CFC78C0BA8}">
      <dgm:prSet/>
      <dgm:spPr/>
      <dgm:t>
        <a:bodyPr/>
        <a:lstStyle/>
        <a:p>
          <a:endParaRPr lang="en-US"/>
        </a:p>
      </dgm:t>
    </dgm:pt>
    <dgm:pt modelId="{164F22A5-762B-4FAC-82CC-896C3F74798E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Wallet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8324E632-0A8F-4035-AE1A-5ACA9F50D783}" type="parTrans" cxnId="{B300C668-58B2-4014-990A-62942B0BADF5}">
      <dgm:prSet/>
      <dgm:spPr/>
      <dgm:t>
        <a:bodyPr/>
        <a:lstStyle/>
        <a:p>
          <a:endParaRPr lang="en-US"/>
        </a:p>
      </dgm:t>
    </dgm:pt>
    <dgm:pt modelId="{CBC65CAE-3706-4222-8653-7113C9BF480F}" type="sibTrans" cxnId="{B300C668-58B2-4014-990A-62942B0BADF5}">
      <dgm:prSet/>
      <dgm:spPr/>
      <dgm:t>
        <a:bodyPr/>
        <a:lstStyle/>
        <a:p>
          <a:endParaRPr lang="en-US"/>
        </a:p>
      </dgm:t>
    </dgm:pt>
    <dgm:pt modelId="{348C582F-8163-4F5D-9501-FA6406CC6B50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Browse categories or search securities
Add stocks/ETFs to personal Basket
Orders executed through linked broker
Basket saved for future sweeps (monthly members)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013A87C2-3F1B-4B75-BAF7-68BC40DD3852}" type="parTrans" cxnId="{E97B8D70-59FD-4A38-80CF-36DD5132673B}">
      <dgm:prSet/>
      <dgm:spPr/>
      <dgm:t>
        <a:bodyPr/>
        <a:lstStyle/>
        <a:p>
          <a:endParaRPr lang="en-US"/>
        </a:p>
      </dgm:t>
    </dgm:pt>
    <dgm:pt modelId="{8F975E85-664D-4E83-B204-FCC6DE8DA795}" type="sibTrans" cxnId="{E97B8D70-59FD-4A38-80CF-36DD5132673B}">
      <dgm:prSet/>
      <dgm:spPr/>
      <dgm:t>
        <a:bodyPr/>
        <a:lstStyle/>
        <a:p>
          <a:endParaRPr lang="en-US"/>
        </a:p>
      </dgm:t>
    </dgm:pt>
    <dgm:pt modelId="{4B04FD52-8375-479F-80D5-E92F785095E6}">
      <dgm:prSet phldrT="[Text]" phldr="0" custT="1"/>
      <dgm:spPr>
        <a:xfrm>
          <a:off x="4688" y="169"/>
          <a:ext cx="1156866" cy="347059"/>
        </a:xfrm>
      </dgm:spPr>
      <dgm:t>
        <a:bodyPr/>
        <a:lstStyle/>
        <a:p>
          <a:pPr>
            <a:buNone/>
          </a:pPr>
          <a:r>
            <a:rPr lang="en-US" sz="1050">
              <a:latin typeface="Calibri" panose="020F0502020204030204"/>
              <a:ea typeface="+mn-ea"/>
              <a:cs typeface="+mn-cs"/>
            </a:rPr>
            <a:t>Stock Picker</a:t>
          </a:r>
          <a:endParaRPr lang="en-US" sz="1050" dirty="0">
            <a:latin typeface="Calibri" panose="020F0502020204030204"/>
            <a:ea typeface="+mn-ea"/>
            <a:cs typeface="+mn-cs"/>
          </a:endParaRPr>
        </a:p>
      </dgm:t>
    </dgm:pt>
    <dgm:pt modelId="{1C62A4A5-3A94-4795-B21B-171B9ED3AA83}" type="parTrans" cxnId="{CAD5585D-A026-4A17-BAB0-5DE75B595895}">
      <dgm:prSet/>
      <dgm:spPr/>
      <dgm:t>
        <a:bodyPr/>
        <a:lstStyle/>
        <a:p>
          <a:endParaRPr lang="en-US"/>
        </a:p>
      </dgm:t>
    </dgm:pt>
    <dgm:pt modelId="{524C66BA-2E8F-42C5-A6DD-EEC623EADEE4}" type="sibTrans" cxnId="{CAD5585D-A026-4A17-BAB0-5DE75B595895}">
      <dgm:prSet/>
      <dgm:spPr/>
      <dgm:t>
        <a:bodyPr/>
        <a:lstStyle/>
        <a:p>
          <a:endParaRPr lang="en-US"/>
        </a:p>
      </dgm:t>
    </dgm:pt>
    <dgm:pt modelId="{D76D8A39-AFAB-4590-9ADA-70A843A078E6}" type="pres">
      <dgm:prSet presAssocID="{54599F1E-9F16-45A0-B7A4-8B1E1A3BA92C}" presName="Name0" presStyleCnt="0">
        <dgm:presLayoutVars>
          <dgm:dir/>
          <dgm:animLvl val="lvl"/>
          <dgm:resizeHandles val="exact"/>
        </dgm:presLayoutVars>
      </dgm:prSet>
      <dgm:spPr/>
    </dgm:pt>
    <dgm:pt modelId="{CB6424A0-B346-4473-A5EC-B6CE292A004A}" type="pres">
      <dgm:prSet presAssocID="{B73B1238-7923-48C7-ABE9-FACBBB3832A7}" presName="composite" presStyleCnt="0"/>
      <dgm:spPr/>
    </dgm:pt>
    <dgm:pt modelId="{8EF171A3-6EBD-4520-9D64-FD9F390E1F97}" type="pres">
      <dgm:prSet presAssocID="{B73B1238-7923-48C7-ABE9-FACBBB3832A7}" presName="parTx" presStyleLbl="alignNode1" presStyleIdx="0" presStyleCnt="6">
        <dgm:presLayoutVars>
          <dgm:chMax val="0"/>
          <dgm:chPref val="0"/>
        </dgm:presLayoutVars>
      </dgm:prSet>
      <dgm:spPr>
        <a:prstGeom prst="chevron">
          <a:avLst>
            <a:gd name="adj" fmla="val 30000"/>
          </a:avLst>
        </a:prstGeom>
      </dgm:spPr>
    </dgm:pt>
    <dgm:pt modelId="{20D96762-97A0-470C-9FBB-632E6E27EFE9}" type="pres">
      <dgm:prSet presAssocID="{B73B1238-7923-48C7-ABE9-FACBBB3832A7}" presName="desTx" presStyleLbl="alignAccFollowNode1" presStyleIdx="0" presStyleCnt="6">
        <dgm:presLayoutVars/>
      </dgm:prSet>
      <dgm:spPr>
        <a:prstGeom prst="rect">
          <a:avLst/>
        </a:prstGeom>
      </dgm:spPr>
    </dgm:pt>
    <dgm:pt modelId="{A0D78A87-978D-4F60-8D80-3E972265E049}" type="pres">
      <dgm:prSet presAssocID="{34E5E44F-CDAA-4BCB-B3F8-26B37AAAF740}" presName="space" presStyleCnt="0"/>
      <dgm:spPr/>
    </dgm:pt>
    <dgm:pt modelId="{7DE0A340-A41F-4F07-8CDC-E5A799487704}" type="pres">
      <dgm:prSet presAssocID="{65C0A787-3CC5-424D-B175-F3D9E5EB30A5}" presName="composite" presStyleCnt="0"/>
      <dgm:spPr/>
    </dgm:pt>
    <dgm:pt modelId="{D734C0BC-C5A2-448A-BBF1-3B965B1DC6C5}" type="pres">
      <dgm:prSet presAssocID="{65C0A787-3CC5-424D-B175-F3D9E5EB30A5}" presName="parTx" presStyleLbl="alignNode1" presStyleIdx="1" presStyleCnt="6">
        <dgm:presLayoutVars>
          <dgm:chMax val="0"/>
          <dgm:chPref val="0"/>
        </dgm:presLayoutVars>
      </dgm:prSet>
      <dgm:spPr/>
    </dgm:pt>
    <dgm:pt modelId="{1560CEEF-876F-42DB-8CFB-DEF1FD76DDCA}" type="pres">
      <dgm:prSet presAssocID="{65C0A787-3CC5-424D-B175-F3D9E5EB30A5}" presName="desTx" presStyleLbl="alignAccFollowNode1" presStyleIdx="1" presStyleCnt="6">
        <dgm:presLayoutVars/>
      </dgm:prSet>
      <dgm:spPr/>
    </dgm:pt>
    <dgm:pt modelId="{43CBCE8C-F959-43F9-A5BE-0761AAA1DDC7}" type="pres">
      <dgm:prSet presAssocID="{BC45C334-BE47-47DF-8DD6-6211B4CA4C2A}" presName="space" presStyleCnt="0"/>
      <dgm:spPr/>
    </dgm:pt>
    <dgm:pt modelId="{0FD9C0F9-E93A-4955-9282-CECCC2AEC547}" type="pres">
      <dgm:prSet presAssocID="{FA5886CF-FD51-4E44-AD83-263774312FC7}" presName="composite" presStyleCnt="0"/>
      <dgm:spPr/>
    </dgm:pt>
    <dgm:pt modelId="{ADA6F0ED-BC77-443B-9E78-C088A566B8B3}" type="pres">
      <dgm:prSet presAssocID="{FA5886CF-FD51-4E44-AD83-263774312FC7}" presName="parTx" presStyleLbl="alignNode1" presStyleIdx="2" presStyleCnt="6">
        <dgm:presLayoutVars>
          <dgm:chMax val="0"/>
          <dgm:chPref val="0"/>
        </dgm:presLayoutVars>
      </dgm:prSet>
      <dgm:spPr/>
    </dgm:pt>
    <dgm:pt modelId="{1A4602B5-3EA8-4E69-85C5-C39DCC9A1474}" type="pres">
      <dgm:prSet presAssocID="{FA5886CF-FD51-4E44-AD83-263774312FC7}" presName="desTx" presStyleLbl="alignAccFollowNode1" presStyleIdx="2" presStyleCnt="6">
        <dgm:presLayoutVars/>
      </dgm:prSet>
      <dgm:spPr/>
    </dgm:pt>
    <dgm:pt modelId="{7379480E-E044-4951-B491-CE8318F73F9A}" type="pres">
      <dgm:prSet presAssocID="{4745C1C1-D847-4A44-A276-F05D1976F4FF}" presName="space" presStyleCnt="0"/>
      <dgm:spPr/>
    </dgm:pt>
    <dgm:pt modelId="{551BBA4A-4A70-4B46-A27F-FA6EC5392F24}" type="pres">
      <dgm:prSet presAssocID="{579AB975-B118-4E07-A06C-6B86D69C20CE}" presName="composite" presStyleCnt="0"/>
      <dgm:spPr/>
    </dgm:pt>
    <dgm:pt modelId="{61C35897-B2D8-4CF8-8744-3D042E4148E4}" type="pres">
      <dgm:prSet presAssocID="{579AB975-B118-4E07-A06C-6B86D69C20CE}" presName="parTx" presStyleLbl="alignNode1" presStyleIdx="3" presStyleCnt="6">
        <dgm:presLayoutVars>
          <dgm:chMax val="0"/>
          <dgm:chPref val="0"/>
        </dgm:presLayoutVars>
      </dgm:prSet>
      <dgm:spPr/>
    </dgm:pt>
    <dgm:pt modelId="{02E8FB6B-C5B9-4806-B6A0-78B95474DA08}" type="pres">
      <dgm:prSet presAssocID="{579AB975-B118-4E07-A06C-6B86D69C20CE}" presName="desTx" presStyleLbl="alignAccFollowNode1" presStyleIdx="3" presStyleCnt="6">
        <dgm:presLayoutVars/>
      </dgm:prSet>
      <dgm:spPr/>
    </dgm:pt>
    <dgm:pt modelId="{101C216D-91BE-4D45-B559-F56C2FB989F9}" type="pres">
      <dgm:prSet presAssocID="{FAB715FC-A1E2-4E3B-B7DF-2987C12AD6C5}" presName="space" presStyleCnt="0"/>
      <dgm:spPr/>
    </dgm:pt>
    <dgm:pt modelId="{4B39860A-E013-4F37-A973-5081EEF8809F}" type="pres">
      <dgm:prSet presAssocID="{164F22A5-762B-4FAC-82CC-896C3F74798E}" presName="composite" presStyleCnt="0"/>
      <dgm:spPr/>
    </dgm:pt>
    <dgm:pt modelId="{8F47454C-CD4C-43AA-BAB1-888AE39FB8AE}" type="pres">
      <dgm:prSet presAssocID="{164F22A5-762B-4FAC-82CC-896C3F74798E}" presName="parTx" presStyleLbl="alignNode1" presStyleIdx="4" presStyleCnt="6">
        <dgm:presLayoutVars>
          <dgm:chMax val="0"/>
          <dgm:chPref val="0"/>
        </dgm:presLayoutVars>
      </dgm:prSet>
      <dgm:spPr/>
    </dgm:pt>
    <dgm:pt modelId="{9EDB14A2-2BFD-42AF-97CD-17AFAD327B51}" type="pres">
      <dgm:prSet presAssocID="{164F22A5-762B-4FAC-82CC-896C3F74798E}" presName="desTx" presStyleLbl="alignAccFollowNode1" presStyleIdx="4" presStyleCnt="6">
        <dgm:presLayoutVars/>
      </dgm:prSet>
      <dgm:spPr/>
    </dgm:pt>
    <dgm:pt modelId="{1765C3DA-065D-4DA8-8F2F-75721833DB02}" type="pres">
      <dgm:prSet presAssocID="{CBC65CAE-3706-4222-8653-7113C9BF480F}" presName="space" presStyleCnt="0"/>
      <dgm:spPr/>
    </dgm:pt>
    <dgm:pt modelId="{C2426B30-CBE6-45FF-811F-2CDA2EA8FA9E}" type="pres">
      <dgm:prSet presAssocID="{4B04FD52-8375-479F-80D5-E92F785095E6}" presName="composite" presStyleCnt="0"/>
      <dgm:spPr/>
    </dgm:pt>
    <dgm:pt modelId="{AC1B32DD-99DC-4BBC-B40E-D4107F6F543F}" type="pres">
      <dgm:prSet presAssocID="{4B04FD52-8375-479F-80D5-E92F785095E6}" presName="parTx" presStyleLbl="alignNode1" presStyleIdx="5" presStyleCnt="6">
        <dgm:presLayoutVars>
          <dgm:chMax val="0"/>
          <dgm:chPref val="0"/>
        </dgm:presLayoutVars>
      </dgm:prSet>
      <dgm:spPr/>
    </dgm:pt>
    <dgm:pt modelId="{F0BDEB79-6224-40E1-B161-50D34EB6FB66}" type="pres">
      <dgm:prSet presAssocID="{4B04FD52-8375-479F-80D5-E92F785095E6}" presName="desTx" presStyleLbl="alignAccFollowNode1" presStyleIdx="5" presStyleCnt="6">
        <dgm:presLayoutVars/>
      </dgm:prSet>
      <dgm:spPr/>
    </dgm:pt>
  </dgm:ptLst>
  <dgm:cxnLst>
    <dgm:cxn modelId="{11829905-B4DB-4799-B4D3-03A24CCFFE19}" srcId="{54599F1E-9F16-45A0-B7A4-8B1E1A3BA92C}" destId="{B73B1238-7923-48C7-ABE9-FACBBB3832A7}" srcOrd="0" destOrd="0" parTransId="{10A1987A-D226-4C52-BA41-D89284095598}" sibTransId="{34E5E44F-CDAA-4BCB-B3F8-26B37AAAF740}"/>
    <dgm:cxn modelId="{DE5DC114-3BFB-4C27-8364-C24EB8A7F92C}" type="presOf" srcId="{B73B1238-7923-48C7-ABE9-FACBBB3832A7}" destId="{8EF171A3-6EBD-4520-9D64-FD9F390E1F97}" srcOrd="0" destOrd="0" presId="urn:microsoft.com/office/officeart/2016/7/layout/ChevronBlockProcess"/>
    <dgm:cxn modelId="{065EF615-78EE-4E9F-9D4F-B710F30A5468}" srcId="{FA5886CF-FD51-4E44-AD83-263774312FC7}" destId="{6CEFB56B-185C-4498-A5CF-7F9FD774AEE9}" srcOrd="0" destOrd="0" parTransId="{54375097-F752-4D17-90DD-CAFC058A0687}" sibTransId="{86F3C468-B52D-4E75-93A5-B7C113152FDE}"/>
    <dgm:cxn modelId="{C02B0B20-D067-49AF-840A-8493EC6AE39C}" type="presOf" srcId="{6CEFB56B-185C-4498-A5CF-7F9FD774AEE9}" destId="{1A4602B5-3EA8-4E69-85C5-C39DCC9A1474}" srcOrd="0" destOrd="0" presId="urn:microsoft.com/office/officeart/2016/7/layout/ChevronBlockProcess"/>
    <dgm:cxn modelId="{2DF53028-2A18-4F86-AE85-D630E6E4BC83}" srcId="{B73B1238-7923-48C7-ABE9-FACBBB3832A7}" destId="{9E9DB2D8-3307-483E-A2F2-01A117A2DCD5}" srcOrd="0" destOrd="0" parTransId="{0F2643D4-9D26-426A-AB3B-B5C89018B4A7}" sibTransId="{699163D7-6CC3-453E-9CA1-63A0DC9C5BFF}"/>
    <dgm:cxn modelId="{52C7F535-212C-400E-B7AD-377D81226578}" type="presOf" srcId="{164F22A5-762B-4FAC-82CC-896C3F74798E}" destId="{8F47454C-CD4C-43AA-BAB1-888AE39FB8AE}" srcOrd="0" destOrd="0" presId="urn:microsoft.com/office/officeart/2016/7/layout/ChevronBlockProcess"/>
    <dgm:cxn modelId="{CAD5585D-A026-4A17-BAB0-5DE75B595895}" srcId="{54599F1E-9F16-45A0-B7A4-8B1E1A3BA92C}" destId="{4B04FD52-8375-479F-80D5-E92F785095E6}" srcOrd="5" destOrd="0" parTransId="{1C62A4A5-3A94-4795-B21B-171B9ED3AA83}" sibTransId="{524C66BA-2E8F-42C5-A6DD-EEC623EADEE4}"/>
    <dgm:cxn modelId="{F52D785F-7A52-4C0D-B31C-E4F49FDC23C2}" srcId="{54599F1E-9F16-45A0-B7A4-8B1E1A3BA92C}" destId="{FA5886CF-FD51-4E44-AD83-263774312FC7}" srcOrd="2" destOrd="0" parTransId="{1370997F-5624-48AD-A9B0-A4AE9C593577}" sibTransId="{4745C1C1-D847-4A44-A276-F05D1976F4FF}"/>
    <dgm:cxn modelId="{06F30543-C379-4F48-9452-6EE36202CFD6}" type="presOf" srcId="{579AB975-B118-4E07-A06C-6B86D69C20CE}" destId="{61C35897-B2D8-4CF8-8744-3D042E4148E4}" srcOrd="0" destOrd="0" presId="urn:microsoft.com/office/officeart/2016/7/layout/ChevronBlockProcess"/>
    <dgm:cxn modelId="{178FD743-A999-49B7-8E8E-01BC482ACB82}" srcId="{54599F1E-9F16-45A0-B7A4-8B1E1A3BA92C}" destId="{65C0A787-3CC5-424D-B175-F3D9E5EB30A5}" srcOrd="1" destOrd="0" parTransId="{8614B48E-2955-49F5-B7E3-AC013072F50F}" sibTransId="{BC45C334-BE47-47DF-8DD6-6211B4CA4C2A}"/>
    <dgm:cxn modelId="{B300C668-58B2-4014-990A-62942B0BADF5}" srcId="{54599F1E-9F16-45A0-B7A4-8B1E1A3BA92C}" destId="{164F22A5-762B-4FAC-82CC-896C3F74798E}" srcOrd="4" destOrd="0" parTransId="{8324E632-0A8F-4035-AE1A-5ACA9F50D783}" sibTransId="{CBC65CAE-3706-4222-8653-7113C9BF480F}"/>
    <dgm:cxn modelId="{E97B8D70-59FD-4A38-80CF-36DD5132673B}" srcId="{4B04FD52-8375-479F-80D5-E92F785095E6}" destId="{348C582F-8163-4F5D-9501-FA6406CC6B50}" srcOrd="0" destOrd="0" parTransId="{013A87C2-3F1B-4B75-BAF7-68BC40DD3852}" sibTransId="{8F975E85-664D-4E83-B204-FCC6DE8DA795}"/>
    <dgm:cxn modelId="{47620875-9EB0-4F87-BCF9-95CFC78C0BA8}" srcId="{164F22A5-762B-4FAC-82CC-896C3F74798E}" destId="{4E42D4CE-47D6-4454-9E07-F2CD751F7210}" srcOrd="0" destOrd="0" parTransId="{9746F7E6-44A0-41B2-9980-7A1612C78A13}" sibTransId="{9230709E-2B60-4E94-A167-15C747583E3D}"/>
    <dgm:cxn modelId="{10A8757C-C8D3-4703-861B-B5F446DCB9A9}" type="presOf" srcId="{FA5886CF-FD51-4E44-AD83-263774312FC7}" destId="{ADA6F0ED-BC77-443B-9E78-C088A566B8B3}" srcOrd="0" destOrd="0" presId="urn:microsoft.com/office/officeart/2016/7/layout/ChevronBlockProcess"/>
    <dgm:cxn modelId="{6B489283-C029-4D4C-965B-27F114349C7A}" type="presOf" srcId="{EB07E3FC-8A45-42C4-AB09-4E42FB8C56F9}" destId="{02E8FB6B-C5B9-4806-B6A0-78B95474DA08}" srcOrd="0" destOrd="0" presId="urn:microsoft.com/office/officeart/2016/7/layout/ChevronBlockProcess"/>
    <dgm:cxn modelId="{8A000184-92C9-4775-AB13-1D94C03F2A74}" type="presOf" srcId="{4B04FD52-8375-479F-80D5-E92F785095E6}" destId="{AC1B32DD-99DC-4BBC-B40E-D4107F6F543F}" srcOrd="0" destOrd="0" presId="urn:microsoft.com/office/officeart/2016/7/layout/ChevronBlockProcess"/>
    <dgm:cxn modelId="{A513A388-A9DD-4E46-A16F-8D5615FC35C9}" srcId="{54599F1E-9F16-45A0-B7A4-8B1E1A3BA92C}" destId="{579AB975-B118-4E07-A06C-6B86D69C20CE}" srcOrd="3" destOrd="0" parTransId="{CBEF76F3-2114-42EC-82B9-8B51B93AF6C5}" sibTransId="{FAB715FC-A1E2-4E3B-B7DF-2987C12AD6C5}"/>
    <dgm:cxn modelId="{5A3EE29B-ECB5-4A50-AE4F-DFB614874F55}" srcId="{579AB975-B118-4E07-A06C-6B86D69C20CE}" destId="{EB07E3FC-8A45-42C4-AB09-4E42FB8C56F9}" srcOrd="0" destOrd="0" parTransId="{F9EAB302-310D-4814-BAC3-BFE4BF9D317C}" sibTransId="{01038DEA-3A01-4463-BD06-FD921EFC8D17}"/>
    <dgm:cxn modelId="{C58F0AAE-1D09-4301-BE79-163FE113196A}" type="presOf" srcId="{54599F1E-9F16-45A0-B7A4-8B1E1A3BA92C}" destId="{D76D8A39-AFAB-4590-9ADA-70A843A078E6}" srcOrd="0" destOrd="0" presId="urn:microsoft.com/office/officeart/2016/7/layout/ChevronBlockProcess"/>
    <dgm:cxn modelId="{E64C7AAE-C5FD-4499-9D74-560BF4EF4350}" type="presOf" srcId="{9E9DB2D8-3307-483E-A2F2-01A117A2DCD5}" destId="{20D96762-97A0-470C-9FBB-632E6E27EFE9}" srcOrd="0" destOrd="0" presId="urn:microsoft.com/office/officeart/2016/7/layout/ChevronBlockProcess"/>
    <dgm:cxn modelId="{3761FFC9-1539-45EE-BD6C-BE4ADE9F9963}" type="presOf" srcId="{65C0A787-3CC5-424D-B175-F3D9E5EB30A5}" destId="{D734C0BC-C5A2-448A-BBF1-3B965B1DC6C5}" srcOrd="0" destOrd="0" presId="urn:microsoft.com/office/officeart/2016/7/layout/ChevronBlockProcess"/>
    <dgm:cxn modelId="{4A2796CE-71CB-4967-8078-75AD1AAB8EF1}" type="presOf" srcId="{4E42D4CE-47D6-4454-9E07-F2CD751F7210}" destId="{9EDB14A2-2BFD-42AF-97CD-17AFAD327B51}" srcOrd="0" destOrd="0" presId="urn:microsoft.com/office/officeart/2016/7/layout/ChevronBlockProcess"/>
    <dgm:cxn modelId="{514598D2-4AB4-4ACE-9650-0B4B509ECB65}" type="presOf" srcId="{40F8A7C4-B85F-4483-A26E-BB926800E492}" destId="{1560CEEF-876F-42DB-8CFB-DEF1FD76DDCA}" srcOrd="0" destOrd="0" presId="urn:microsoft.com/office/officeart/2016/7/layout/ChevronBlockProcess"/>
    <dgm:cxn modelId="{4965DBEC-D267-4755-B2B0-80DB81ACE87E}" srcId="{65C0A787-3CC5-424D-B175-F3D9E5EB30A5}" destId="{40F8A7C4-B85F-4483-A26E-BB926800E492}" srcOrd="0" destOrd="0" parTransId="{89FF5F54-3575-41BC-85E1-F0CC2AB848D5}" sibTransId="{DF0CF934-6E23-49C4-8EB9-5CD05FC322DE}"/>
    <dgm:cxn modelId="{776ECBF6-179B-485E-AA86-3513FCEE4654}" type="presOf" srcId="{348C582F-8163-4F5D-9501-FA6406CC6B50}" destId="{F0BDEB79-6224-40E1-B161-50D34EB6FB66}" srcOrd="0" destOrd="0" presId="urn:microsoft.com/office/officeart/2016/7/layout/ChevronBlockProcess"/>
    <dgm:cxn modelId="{9C0EBB3A-BB64-4328-88B9-61EEEF704E56}" type="presParOf" srcId="{D76D8A39-AFAB-4590-9ADA-70A843A078E6}" destId="{CB6424A0-B346-4473-A5EC-B6CE292A004A}" srcOrd="0" destOrd="0" presId="urn:microsoft.com/office/officeart/2016/7/layout/ChevronBlockProcess"/>
    <dgm:cxn modelId="{6BEFAF67-0D15-4F7A-80E9-0DD046FA5F13}" type="presParOf" srcId="{CB6424A0-B346-4473-A5EC-B6CE292A004A}" destId="{8EF171A3-6EBD-4520-9D64-FD9F390E1F97}" srcOrd="0" destOrd="0" presId="urn:microsoft.com/office/officeart/2016/7/layout/ChevronBlockProcess"/>
    <dgm:cxn modelId="{3964B436-C118-4C7C-A5E4-D586968C1A4F}" type="presParOf" srcId="{CB6424A0-B346-4473-A5EC-B6CE292A004A}" destId="{20D96762-97A0-470C-9FBB-632E6E27EFE9}" srcOrd="1" destOrd="0" presId="urn:microsoft.com/office/officeart/2016/7/layout/ChevronBlockProcess"/>
    <dgm:cxn modelId="{C6066399-7843-41E2-9CF2-B469FFF41C1E}" type="presParOf" srcId="{D76D8A39-AFAB-4590-9ADA-70A843A078E6}" destId="{A0D78A87-978D-4F60-8D80-3E972265E049}" srcOrd="1" destOrd="0" presId="urn:microsoft.com/office/officeart/2016/7/layout/ChevronBlockProcess"/>
    <dgm:cxn modelId="{34F230DC-E2AA-427C-907C-09CE584ACFDF}" type="presParOf" srcId="{D76D8A39-AFAB-4590-9ADA-70A843A078E6}" destId="{7DE0A340-A41F-4F07-8CDC-E5A799487704}" srcOrd="2" destOrd="0" presId="urn:microsoft.com/office/officeart/2016/7/layout/ChevronBlockProcess"/>
    <dgm:cxn modelId="{A0FDE8EE-DD13-40E0-83F6-D99D025C004C}" type="presParOf" srcId="{7DE0A340-A41F-4F07-8CDC-E5A799487704}" destId="{D734C0BC-C5A2-448A-BBF1-3B965B1DC6C5}" srcOrd="0" destOrd="0" presId="urn:microsoft.com/office/officeart/2016/7/layout/ChevronBlockProcess"/>
    <dgm:cxn modelId="{5E9D7057-2FAB-4BA2-8400-2211BE56F624}" type="presParOf" srcId="{7DE0A340-A41F-4F07-8CDC-E5A799487704}" destId="{1560CEEF-876F-42DB-8CFB-DEF1FD76DDCA}" srcOrd="1" destOrd="0" presId="urn:microsoft.com/office/officeart/2016/7/layout/ChevronBlockProcess"/>
    <dgm:cxn modelId="{A23F3F16-F2D3-4169-A7E5-2B7F52BA50E3}" type="presParOf" srcId="{D76D8A39-AFAB-4590-9ADA-70A843A078E6}" destId="{43CBCE8C-F959-43F9-A5BE-0761AAA1DDC7}" srcOrd="3" destOrd="0" presId="urn:microsoft.com/office/officeart/2016/7/layout/ChevronBlockProcess"/>
    <dgm:cxn modelId="{76EC8292-551A-4315-9BF5-368734B77CFA}" type="presParOf" srcId="{D76D8A39-AFAB-4590-9ADA-70A843A078E6}" destId="{0FD9C0F9-E93A-4955-9282-CECCC2AEC547}" srcOrd="4" destOrd="0" presId="urn:microsoft.com/office/officeart/2016/7/layout/ChevronBlockProcess"/>
    <dgm:cxn modelId="{3D0F5105-E9F8-4DDD-96B3-37FE3628EE86}" type="presParOf" srcId="{0FD9C0F9-E93A-4955-9282-CECCC2AEC547}" destId="{ADA6F0ED-BC77-443B-9E78-C088A566B8B3}" srcOrd="0" destOrd="0" presId="urn:microsoft.com/office/officeart/2016/7/layout/ChevronBlockProcess"/>
    <dgm:cxn modelId="{4D90157C-EFBE-47D5-8FE6-9BC6AEC2C9C9}" type="presParOf" srcId="{0FD9C0F9-E93A-4955-9282-CECCC2AEC547}" destId="{1A4602B5-3EA8-4E69-85C5-C39DCC9A1474}" srcOrd="1" destOrd="0" presId="urn:microsoft.com/office/officeart/2016/7/layout/ChevronBlockProcess"/>
    <dgm:cxn modelId="{2230F538-4FB5-4E95-AC08-40AC0F10CF69}" type="presParOf" srcId="{D76D8A39-AFAB-4590-9ADA-70A843A078E6}" destId="{7379480E-E044-4951-B491-CE8318F73F9A}" srcOrd="5" destOrd="0" presId="urn:microsoft.com/office/officeart/2016/7/layout/ChevronBlockProcess"/>
    <dgm:cxn modelId="{F812D07C-720F-405E-AE0A-BC313565F351}" type="presParOf" srcId="{D76D8A39-AFAB-4590-9ADA-70A843A078E6}" destId="{551BBA4A-4A70-4B46-A27F-FA6EC5392F24}" srcOrd="6" destOrd="0" presId="urn:microsoft.com/office/officeart/2016/7/layout/ChevronBlockProcess"/>
    <dgm:cxn modelId="{81B0932E-5807-4A8D-87B9-24C92F5F987F}" type="presParOf" srcId="{551BBA4A-4A70-4B46-A27F-FA6EC5392F24}" destId="{61C35897-B2D8-4CF8-8744-3D042E4148E4}" srcOrd="0" destOrd="0" presId="urn:microsoft.com/office/officeart/2016/7/layout/ChevronBlockProcess"/>
    <dgm:cxn modelId="{2B52BE42-1084-4E90-BF5D-2E0B68A5A394}" type="presParOf" srcId="{551BBA4A-4A70-4B46-A27F-FA6EC5392F24}" destId="{02E8FB6B-C5B9-4806-B6A0-78B95474DA08}" srcOrd="1" destOrd="0" presId="urn:microsoft.com/office/officeart/2016/7/layout/ChevronBlockProcess"/>
    <dgm:cxn modelId="{167567A1-97D5-4952-B707-B3EA6096B366}" type="presParOf" srcId="{D76D8A39-AFAB-4590-9ADA-70A843A078E6}" destId="{101C216D-91BE-4D45-B559-F56C2FB989F9}" srcOrd="7" destOrd="0" presId="urn:microsoft.com/office/officeart/2016/7/layout/ChevronBlockProcess"/>
    <dgm:cxn modelId="{A618356B-34C6-4A47-8CB5-58C2A0E8661F}" type="presParOf" srcId="{D76D8A39-AFAB-4590-9ADA-70A843A078E6}" destId="{4B39860A-E013-4F37-A973-5081EEF8809F}" srcOrd="8" destOrd="0" presId="urn:microsoft.com/office/officeart/2016/7/layout/ChevronBlockProcess"/>
    <dgm:cxn modelId="{46ED8380-5298-416B-94F0-15155973EEBF}" type="presParOf" srcId="{4B39860A-E013-4F37-A973-5081EEF8809F}" destId="{8F47454C-CD4C-43AA-BAB1-888AE39FB8AE}" srcOrd="0" destOrd="0" presId="urn:microsoft.com/office/officeart/2016/7/layout/ChevronBlockProcess"/>
    <dgm:cxn modelId="{FA68C6BF-7545-4FCB-B952-EDC1D8A77EBB}" type="presParOf" srcId="{4B39860A-E013-4F37-A973-5081EEF8809F}" destId="{9EDB14A2-2BFD-42AF-97CD-17AFAD327B51}" srcOrd="1" destOrd="0" presId="urn:microsoft.com/office/officeart/2016/7/layout/ChevronBlockProcess"/>
    <dgm:cxn modelId="{0AC876A9-F54F-47D9-9B28-A7127C5AEB8F}" type="presParOf" srcId="{D76D8A39-AFAB-4590-9ADA-70A843A078E6}" destId="{1765C3DA-065D-4DA8-8F2F-75721833DB02}" srcOrd="9" destOrd="0" presId="urn:microsoft.com/office/officeart/2016/7/layout/ChevronBlockProcess"/>
    <dgm:cxn modelId="{B133939C-6D41-44EF-8422-B0626A8C4022}" type="presParOf" srcId="{D76D8A39-AFAB-4590-9ADA-70A843A078E6}" destId="{C2426B30-CBE6-45FF-811F-2CDA2EA8FA9E}" srcOrd="10" destOrd="0" presId="urn:microsoft.com/office/officeart/2016/7/layout/ChevronBlockProcess"/>
    <dgm:cxn modelId="{7EB944A3-7474-4FE6-A44F-2AEE5BB56097}" type="presParOf" srcId="{C2426B30-CBE6-45FF-811F-2CDA2EA8FA9E}" destId="{AC1B32DD-99DC-4BBC-B40E-D4107F6F543F}" srcOrd="0" destOrd="0" presId="urn:microsoft.com/office/officeart/2016/7/layout/ChevronBlockProcess"/>
    <dgm:cxn modelId="{94E0A838-B542-4FBD-93C0-2E6E943001B6}" type="presParOf" srcId="{C2426B30-CBE6-45FF-811F-2CDA2EA8FA9E}" destId="{F0BDEB79-6224-40E1-B161-50D34EB6FB66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599F1E-9F16-45A0-B7A4-8B1E1A3BA92C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73B1238-7923-48C7-ABE9-FACBBB3832A7}">
      <dgm:prSet phldrT="[Text]" phldr="0" custT="1"/>
      <dgm:spPr>
        <a:xfrm>
          <a:off x="4688" y="169"/>
          <a:ext cx="1156866" cy="347059"/>
        </a:xfr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Prepare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0A1987A-D226-4C52-BA41-D89284095598}" type="parTrans" cxnId="{11829905-B4DB-4799-B4D3-03A24CCFFE19}">
      <dgm:prSet/>
      <dgm:spPr/>
      <dgm:t>
        <a:bodyPr/>
        <a:lstStyle/>
        <a:p>
          <a:endParaRPr lang="en-US" sz="1200"/>
        </a:p>
      </dgm:t>
    </dgm:pt>
    <dgm:pt modelId="{34E5E44F-CDAA-4BCB-B3F8-26B37AAAF740}" type="sibTrans" cxnId="{11829905-B4DB-4799-B4D3-03A24CCFFE19}">
      <dgm:prSet/>
      <dgm:spPr/>
      <dgm:t>
        <a:bodyPr/>
        <a:lstStyle/>
        <a:p>
          <a:endParaRPr lang="en-US" sz="1200"/>
        </a:p>
      </dgm:t>
    </dgm:pt>
    <dgm:pt modelId="{06598F53-E5D4-453C-9371-3A02B99039CF}">
      <dgm:prSet phldrT="[Text]" phldr="0" custT="1"/>
      <dgm:spPr>
        <a:xfrm>
          <a:off x="4688" y="347229"/>
          <a:ext cx="1052748" cy="2916104"/>
        </a:xfr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Points converted to cash-equivalent value
Broker minimum / maximum limits enforced
Merchant completes funding reconciliation 
Batch approved for release
Orders marked</a:t>
          </a:r>
          <a:r>
            <a:rPr lang="en-US" sz="9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Pending</a:t>
          </a:r>
          <a:endParaRPr lang="en-US" sz="900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D4204FBA-28B5-4B1C-9E9D-6D116644DA10}" type="parTrans" cxnId="{C8F87802-0AD9-4208-B08E-35C810E2F581}">
      <dgm:prSet/>
      <dgm:spPr/>
      <dgm:t>
        <a:bodyPr/>
        <a:lstStyle/>
        <a:p>
          <a:endParaRPr lang="en-US" sz="1200"/>
        </a:p>
      </dgm:t>
    </dgm:pt>
    <dgm:pt modelId="{8642233E-9F5C-4565-A1E2-95C753EBF591}" type="sibTrans" cxnId="{C8F87802-0AD9-4208-B08E-35C810E2F581}">
      <dgm:prSet/>
      <dgm:spPr/>
      <dgm:t>
        <a:bodyPr/>
        <a:lstStyle/>
        <a:p>
          <a:endParaRPr lang="en-US" sz="1200"/>
        </a:p>
      </dgm:t>
    </dgm:pt>
    <dgm:pt modelId="{03EF6AB2-52EA-4558-AC11-B521DCEFB870}">
      <dgm:prSet phldrT="[Text]" phldr="0" custT="1"/>
      <dgm:spPr>
        <a:xfrm>
          <a:off x="4688" y="347229"/>
          <a:ext cx="1052748" cy="2916104"/>
        </a:xfr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Investment percentage applied to loyalty balance</a:t>
          </a:r>
          <a:endParaRPr lang="en-US" sz="9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2699EDE-8578-4E20-ABD2-8DD3A2D8BD4F}" type="parTrans" cxnId="{4F14A954-5426-46D4-81FE-777C9116F39E}">
      <dgm:prSet/>
      <dgm:spPr/>
      <dgm:t>
        <a:bodyPr/>
        <a:lstStyle/>
        <a:p>
          <a:endParaRPr lang="en-US" sz="1200"/>
        </a:p>
      </dgm:t>
    </dgm:pt>
    <dgm:pt modelId="{6D5E6109-9B3E-4DAF-8E0F-3B35EC0FC7D7}" type="sibTrans" cxnId="{4F14A954-5426-46D4-81FE-777C9116F39E}">
      <dgm:prSet/>
      <dgm:spPr/>
      <dgm:t>
        <a:bodyPr/>
        <a:lstStyle/>
        <a:p>
          <a:endParaRPr lang="en-US" sz="1200"/>
        </a:p>
      </dgm:t>
    </dgm:pt>
    <dgm:pt modelId="{9E13A00F-FB41-441A-838F-64BEF21FDB0D}">
      <dgm:prSet phldrT="[Text]" phldr="0" custT="1"/>
      <dgm:spPr>
        <a:xfrm>
          <a:off x="4688" y="347229"/>
          <a:ext cx="1052748" cy="2916104"/>
        </a:xfr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Member selects securities in My Basket</a:t>
          </a:r>
          <a:endParaRPr lang="en-US" sz="9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6744D463-D826-45BE-8454-7A56A701A235}" type="parTrans" cxnId="{F2BFAE2F-4B98-4586-B6A0-ED733A83B348}">
      <dgm:prSet/>
      <dgm:spPr/>
      <dgm:t>
        <a:bodyPr/>
        <a:lstStyle/>
        <a:p>
          <a:endParaRPr lang="en-US" sz="1200"/>
        </a:p>
      </dgm:t>
    </dgm:pt>
    <dgm:pt modelId="{B822A0BD-9962-449E-8379-DA14F1CF70CF}" type="sibTrans" cxnId="{F2BFAE2F-4B98-4586-B6A0-ED733A83B348}">
      <dgm:prSet/>
      <dgm:spPr/>
      <dgm:t>
        <a:bodyPr/>
        <a:lstStyle/>
        <a:p>
          <a:endParaRPr lang="en-US" sz="1200"/>
        </a:p>
      </dgm:t>
    </dgm:pt>
    <dgm:pt modelId="{3B74C516-1A02-431D-89BC-3DB4885E9625}">
      <dgm:prSet phldrT="[Text]" phldr="0" custT="1"/>
      <dgm:spPr>
        <a:xfrm>
          <a:off x="1122198" y="169"/>
          <a:ext cx="1156866" cy="347059"/>
        </a:xfr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Reserve Points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C1E5477-30A6-4A76-9DEF-1F47626618FA}" type="parTrans" cxnId="{225E3FC3-380A-4368-BFC3-4EF20092970D}">
      <dgm:prSet/>
      <dgm:spPr/>
      <dgm:t>
        <a:bodyPr/>
        <a:lstStyle/>
        <a:p>
          <a:endParaRPr lang="en-US" sz="1200"/>
        </a:p>
      </dgm:t>
    </dgm:pt>
    <dgm:pt modelId="{CDC9FD16-C91F-4B00-92F1-79FA10463A2D}" type="sibTrans" cxnId="{225E3FC3-380A-4368-BFC3-4EF20092970D}">
      <dgm:prSet/>
      <dgm:spPr/>
      <dgm:t>
        <a:bodyPr/>
        <a:lstStyle/>
        <a:p>
          <a:endParaRPr lang="en-US" sz="1200"/>
        </a:p>
      </dgm:t>
    </dgm:pt>
    <dgm:pt modelId="{4ACF1667-D5F3-4B78-A499-BF09EBCAE075}">
      <dgm:prSet phldrT="[Text]" phldr="0" custT="1"/>
      <dgm:spPr>
        <a:xfrm>
          <a:off x="1122198" y="347229"/>
          <a:ext cx="1052748" cy="2916104"/>
        </a:xfr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StockLoyal requests a points reservation hold from merchant
Merchant places hold on elected points
Reservation ID returned to StockLoyal
Points status updated to Reserved
Prevents double-spend or race conditions</a:t>
          </a:r>
          <a:endParaRPr lang="en-US" sz="9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2DBF5AB5-8123-49E0-A1ED-FE7B1A30376D}" type="parTrans" cxnId="{362B8F74-FCBF-43F9-8AC4-A12700AA8FF7}">
      <dgm:prSet/>
      <dgm:spPr/>
      <dgm:t>
        <a:bodyPr/>
        <a:lstStyle/>
        <a:p>
          <a:endParaRPr lang="en-US" sz="1200"/>
        </a:p>
      </dgm:t>
    </dgm:pt>
    <dgm:pt modelId="{B82F3DA3-BAC5-40D9-975B-20C14A00464F}" type="sibTrans" cxnId="{362B8F74-FCBF-43F9-8AC4-A12700AA8FF7}">
      <dgm:prSet/>
      <dgm:spPr/>
      <dgm:t>
        <a:bodyPr/>
        <a:lstStyle/>
        <a:p>
          <a:endParaRPr lang="en-US" sz="1200"/>
        </a:p>
      </dgm:t>
    </dgm:pt>
    <dgm:pt modelId="{34987020-E065-4987-B47F-CA0A99D3B971}">
      <dgm:prSet phldrT="[Text]" phldr="0" custT="1"/>
      <dgm:spPr>
        <a:xfrm>
          <a:off x="2239708" y="169"/>
          <a:ext cx="1156866" cy="347059"/>
        </a:xfr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Sweep (Order Submission)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F8E13F2-E025-4A97-B30F-53971079A412}" type="parTrans" cxnId="{57FA3A42-55EF-4483-AFF8-C57A6397ED80}">
      <dgm:prSet/>
      <dgm:spPr/>
      <dgm:t>
        <a:bodyPr/>
        <a:lstStyle/>
        <a:p>
          <a:endParaRPr lang="en-US" sz="1200"/>
        </a:p>
      </dgm:t>
    </dgm:pt>
    <dgm:pt modelId="{23DEBF26-9AE3-4046-9F54-C073D41B87C5}" type="sibTrans" cxnId="{57FA3A42-55EF-4483-AFF8-C57A6397ED80}">
      <dgm:prSet/>
      <dgm:spPr/>
      <dgm:t>
        <a:bodyPr/>
        <a:lstStyle/>
        <a:p>
          <a:endParaRPr lang="en-US" sz="1200"/>
        </a:p>
      </dgm:t>
    </dgm:pt>
    <dgm:pt modelId="{74A738E7-1343-42D1-ABE8-B4DFE7ED4DF6}">
      <dgm:prSet phldrT="[Text]" phldr="0" custT="1"/>
      <dgm:spPr>
        <a:xfrm>
          <a:off x="2239708" y="347229"/>
          <a:ext cx="1052748" cy="2916104"/>
        </a:xfrm>
        <a:solidFill>
          <a:srgbClr val="FFC000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StockLoyal submits member buy orders to broker via secure webhook
Orders grouped by merchant and broker
Broker acknowledges receipt
Orders marked </a:t>
          </a:r>
          <a:r>
            <a:rPr lang="en-US" sz="9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Placed</a:t>
          </a:r>
          <a:endParaRPr lang="en-US" sz="900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6F07F362-4AB4-4E83-A63E-F6405440CA8F}" type="parTrans" cxnId="{0B07FF39-EB1C-41D6-8687-621CFC6AFEDA}">
      <dgm:prSet/>
      <dgm:spPr/>
      <dgm:t>
        <a:bodyPr/>
        <a:lstStyle/>
        <a:p>
          <a:endParaRPr lang="en-US" sz="1200"/>
        </a:p>
      </dgm:t>
    </dgm:pt>
    <dgm:pt modelId="{93CB7C23-6B20-4E9D-A56A-253B080EFCC3}" type="sibTrans" cxnId="{0B07FF39-EB1C-41D6-8687-621CFC6AFEDA}">
      <dgm:prSet/>
      <dgm:spPr/>
      <dgm:t>
        <a:bodyPr/>
        <a:lstStyle/>
        <a:p>
          <a:endParaRPr lang="en-US" sz="1200"/>
        </a:p>
      </dgm:t>
    </dgm:pt>
    <dgm:pt modelId="{754F0A54-669E-4DD2-AD04-7E7B41127BD5}">
      <dgm:prSet phldrT="[Text]" phldr="0" custT="1"/>
      <dgm:spPr>
        <a:xfrm>
          <a:off x="3357218" y="169"/>
          <a:ext cx="1156866" cy="347059"/>
        </a:xfr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Debit Points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5927736F-C96E-48BA-8621-A5E642A065E7}" type="parTrans" cxnId="{DCF9FB5A-6FDD-45B4-B05A-94F3E8872CF4}">
      <dgm:prSet/>
      <dgm:spPr/>
      <dgm:t>
        <a:bodyPr/>
        <a:lstStyle/>
        <a:p>
          <a:endParaRPr lang="en-US" sz="1200"/>
        </a:p>
      </dgm:t>
    </dgm:pt>
    <dgm:pt modelId="{34EF5D88-3A2D-477D-8CBA-FACF0DEB1B39}" type="sibTrans" cxnId="{DCF9FB5A-6FDD-45B4-B05A-94F3E8872CF4}">
      <dgm:prSet/>
      <dgm:spPr/>
      <dgm:t>
        <a:bodyPr/>
        <a:lstStyle/>
        <a:p>
          <a:endParaRPr lang="en-US" sz="1200"/>
        </a:p>
      </dgm:t>
    </dgm:pt>
    <dgm:pt modelId="{7EFD594B-E294-4C5B-9F6B-6D7E4A5296EE}">
      <dgm:prSet phldrT="[Text]" phldr="0" custT="1"/>
      <dgm:spPr>
        <a:xfrm>
          <a:off x="3357218" y="347229"/>
          <a:ext cx="1052748" cy="2916104"/>
        </a:xfrm>
        <a:solidFill>
          <a:srgbClr val="5B9BD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Upon broker acknowledgment, StockLoyal sends points debit notification
Merchant converts reservation → final debit
Member loyalty balance reset accordingly
Full audit linkage:
Points status updated to Debited</a:t>
          </a:r>
          <a:endParaRPr lang="en-US" sz="9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92EAE2C7-8A2D-4310-A853-6BFA712008E8}" type="parTrans" cxnId="{B3F09549-8EA0-4021-96E7-4D8441B0D33E}">
      <dgm:prSet/>
      <dgm:spPr/>
      <dgm:t>
        <a:bodyPr/>
        <a:lstStyle/>
        <a:p>
          <a:endParaRPr lang="en-US" sz="1200"/>
        </a:p>
      </dgm:t>
    </dgm:pt>
    <dgm:pt modelId="{CF882C62-6174-4B88-9BA1-8EEAC33E6A2E}" type="sibTrans" cxnId="{B3F09549-8EA0-4021-96E7-4D8441B0D33E}">
      <dgm:prSet/>
      <dgm:spPr/>
      <dgm:t>
        <a:bodyPr/>
        <a:lstStyle/>
        <a:p>
          <a:endParaRPr lang="en-US" sz="1200"/>
        </a:p>
      </dgm:t>
    </dgm:pt>
    <dgm:pt modelId="{4CC738ED-9B9E-4DB9-8A29-76E53A7F98D7}">
      <dgm:prSet phldrT="[Text]" phldr="0" custT="1"/>
      <dgm:spPr>
        <a:xfrm>
          <a:off x="4474728" y="169"/>
          <a:ext cx="1156866" cy="347059"/>
        </a:xfrm>
        <a:solidFill>
          <a:srgbClr val="70AD47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Broker Execution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AE374C4E-CBFA-4CE2-BC29-B719323EFD21}" type="parTrans" cxnId="{81593BDE-5104-4A71-8387-EDF4235590BA}">
      <dgm:prSet/>
      <dgm:spPr/>
      <dgm:t>
        <a:bodyPr/>
        <a:lstStyle/>
        <a:p>
          <a:endParaRPr lang="en-US" sz="1200"/>
        </a:p>
      </dgm:t>
    </dgm:pt>
    <dgm:pt modelId="{16A8C267-83B4-4DF5-95D8-EEDA264AE044}" type="sibTrans" cxnId="{81593BDE-5104-4A71-8387-EDF4235590BA}">
      <dgm:prSet/>
      <dgm:spPr/>
      <dgm:t>
        <a:bodyPr/>
        <a:lstStyle/>
        <a:p>
          <a:endParaRPr lang="en-US" sz="1200"/>
        </a:p>
      </dgm:t>
    </dgm:pt>
    <dgm:pt modelId="{9E7B3104-712F-455F-83AD-F8CADC38338C}">
      <dgm:prSet phldrT="[Text]" phldr="0" custT="1"/>
      <dgm:spPr>
        <a:xfrm>
          <a:off x="4474728" y="347229"/>
          <a:ext cx="1052748" cy="2916104"/>
        </a:xfrm>
        <a:solidFill>
          <a:srgbClr val="70AD47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0AD47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Broker executes trades at market open (9:30 AM ET)
Trade confirmations returned via webhook
Orders marked </a:t>
          </a:r>
          <a:r>
            <a:rPr lang="en-US" sz="9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Confirmed</a:t>
          </a:r>
          <a:endParaRPr lang="en-US" sz="900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BCC7673B-07A4-4145-88C0-573C4407C41F}" type="parTrans" cxnId="{757D6966-D7F9-4EAA-BFDC-57A914C2BE49}">
      <dgm:prSet/>
      <dgm:spPr/>
      <dgm:t>
        <a:bodyPr/>
        <a:lstStyle/>
        <a:p>
          <a:endParaRPr lang="en-US" sz="1200"/>
        </a:p>
      </dgm:t>
    </dgm:pt>
    <dgm:pt modelId="{4AF1CDC6-798F-4FE3-A684-A087C0366D0F}" type="sibTrans" cxnId="{757D6966-D7F9-4EAA-BFDC-57A914C2BE49}">
      <dgm:prSet/>
      <dgm:spPr/>
      <dgm:t>
        <a:bodyPr/>
        <a:lstStyle/>
        <a:p>
          <a:endParaRPr lang="en-US" sz="1200"/>
        </a:p>
      </dgm:t>
    </dgm:pt>
    <dgm:pt modelId="{1BD865E2-8B1A-477B-A798-1BC582FF9BBC}">
      <dgm:prSet phldrT="[Text]" phldr="0" custT="1"/>
      <dgm:spPr>
        <a:xfrm>
          <a:off x="5592238" y="169"/>
          <a:ext cx="1156866" cy="347059"/>
        </a:xfr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Payment &amp; Allocation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AB8B7DA9-CE18-4B6A-976E-75B866ACDD01}" type="parTrans" cxnId="{9FCA716F-BB0F-485A-A37B-109150E294EC}">
      <dgm:prSet/>
      <dgm:spPr/>
      <dgm:t>
        <a:bodyPr/>
        <a:lstStyle/>
        <a:p>
          <a:endParaRPr lang="en-US" sz="1200"/>
        </a:p>
      </dgm:t>
    </dgm:pt>
    <dgm:pt modelId="{8045FD05-35DF-4DA8-8222-85FAA25EF61E}" type="sibTrans" cxnId="{9FCA716F-BB0F-485A-A37B-109150E294EC}">
      <dgm:prSet/>
      <dgm:spPr/>
      <dgm:t>
        <a:bodyPr/>
        <a:lstStyle/>
        <a:p>
          <a:endParaRPr lang="en-US" sz="1200"/>
        </a:p>
      </dgm:t>
    </dgm:pt>
    <dgm:pt modelId="{3AF2A6B2-2120-4FC2-AB94-83A7D3B38353}">
      <dgm:prSet phldrT="[Text]" phldr="0" custT="1"/>
      <dgm:spPr>
        <a:xfrm>
          <a:off x="5592238" y="347229"/>
          <a:ext cx="1052748" cy="2916104"/>
        </a:xfr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Merchant funding summary generated
Member-level allocation file created
Merchant executes ACH payment to broker(s)
Allocation file sent for account-level crediting</a:t>
          </a:r>
          <a:endParaRPr lang="en-US" sz="9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D67117C-1DFD-400F-809A-D4B68BA60A3B}" type="parTrans" cxnId="{D47DB396-C565-48B7-A93C-B3F4B196196F}">
      <dgm:prSet/>
      <dgm:spPr/>
      <dgm:t>
        <a:bodyPr/>
        <a:lstStyle/>
        <a:p>
          <a:endParaRPr lang="en-US" sz="1200"/>
        </a:p>
      </dgm:t>
    </dgm:pt>
    <dgm:pt modelId="{BEA75424-558F-4028-9A5E-CB0717DB9452}" type="sibTrans" cxnId="{D47DB396-C565-48B7-A93C-B3F4B196196F}">
      <dgm:prSet/>
      <dgm:spPr/>
      <dgm:t>
        <a:bodyPr/>
        <a:lstStyle/>
        <a:p>
          <a:endParaRPr lang="en-US" sz="1200"/>
        </a:p>
      </dgm:t>
    </dgm:pt>
    <dgm:pt modelId="{3D132F41-9DEA-4C61-97EB-C1F309C9CFE8}">
      <dgm:prSet phldrT="[Text]" phldr="0" custT="1"/>
      <dgm:spPr>
        <a:xfrm>
          <a:off x="6709748" y="169"/>
          <a:ext cx="1156866" cy="347059"/>
        </a:xfr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05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Settlement</a:t>
          </a:r>
          <a:endParaRPr lang="en-US" sz="105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6C0CC1E0-9479-4561-AAC6-A00AD6758E79}" type="parTrans" cxnId="{3DB48B32-9660-434A-AD98-2E7F46E0CBBE}">
      <dgm:prSet/>
      <dgm:spPr/>
      <dgm:t>
        <a:bodyPr/>
        <a:lstStyle/>
        <a:p>
          <a:endParaRPr lang="en-US" sz="1200"/>
        </a:p>
      </dgm:t>
    </dgm:pt>
    <dgm:pt modelId="{88471558-6565-4E3C-9C1F-6C85CCC274F2}" type="sibTrans" cxnId="{3DB48B32-9660-434A-AD98-2E7F46E0CBBE}">
      <dgm:prSet/>
      <dgm:spPr/>
      <dgm:t>
        <a:bodyPr/>
        <a:lstStyle/>
        <a:p>
          <a:endParaRPr lang="en-US" sz="1200"/>
        </a:p>
      </dgm:t>
    </dgm:pt>
    <dgm:pt modelId="{780EEEFC-5117-4617-BC8C-367A804F313F}">
      <dgm:prSet phldrT="[Text]" phldr="0" custT="1"/>
      <dgm:spPr>
        <a:xfrm>
          <a:off x="6709748" y="347229"/>
          <a:ext cx="1052748" cy="2916104"/>
        </a:xfr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9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Broker allocates funds to member accounts
Trades settle on T+1
Settlement confirmation returned
Orders marked </a:t>
          </a:r>
          <a:r>
            <a:rPr lang="en-US" sz="9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Settled</a:t>
          </a:r>
          <a:endParaRPr lang="en-US" sz="900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245E7726-334A-4C95-8A27-5083D7334FE8}" type="parTrans" cxnId="{57B1E4FD-329D-42C3-B3CC-052EE6720C5A}">
      <dgm:prSet/>
      <dgm:spPr/>
      <dgm:t>
        <a:bodyPr/>
        <a:lstStyle/>
        <a:p>
          <a:endParaRPr lang="en-US" sz="1200"/>
        </a:p>
      </dgm:t>
    </dgm:pt>
    <dgm:pt modelId="{271A2AFF-8B6B-45C0-933C-50B23707A5D5}" type="sibTrans" cxnId="{57B1E4FD-329D-42C3-B3CC-052EE6720C5A}">
      <dgm:prSet/>
      <dgm:spPr/>
      <dgm:t>
        <a:bodyPr/>
        <a:lstStyle/>
        <a:p>
          <a:endParaRPr lang="en-US" sz="1200"/>
        </a:p>
      </dgm:t>
    </dgm:pt>
    <dgm:pt modelId="{D76D8A39-AFAB-4590-9ADA-70A843A078E6}" type="pres">
      <dgm:prSet presAssocID="{54599F1E-9F16-45A0-B7A4-8B1E1A3BA92C}" presName="Name0" presStyleCnt="0">
        <dgm:presLayoutVars>
          <dgm:dir/>
          <dgm:animLvl val="lvl"/>
          <dgm:resizeHandles val="exact"/>
        </dgm:presLayoutVars>
      </dgm:prSet>
      <dgm:spPr/>
    </dgm:pt>
    <dgm:pt modelId="{CB6424A0-B346-4473-A5EC-B6CE292A004A}" type="pres">
      <dgm:prSet presAssocID="{B73B1238-7923-48C7-ABE9-FACBBB3832A7}" presName="composite" presStyleCnt="0"/>
      <dgm:spPr/>
    </dgm:pt>
    <dgm:pt modelId="{8EF171A3-6EBD-4520-9D64-FD9F390E1F97}" type="pres">
      <dgm:prSet presAssocID="{B73B1238-7923-48C7-ABE9-FACBBB3832A7}" presName="parTx" presStyleLbl="alignNode1" presStyleIdx="0" presStyleCnt="7">
        <dgm:presLayoutVars>
          <dgm:chMax val="0"/>
          <dgm:chPref val="0"/>
        </dgm:presLayoutVars>
      </dgm:prSet>
      <dgm:spPr/>
    </dgm:pt>
    <dgm:pt modelId="{20D96762-97A0-470C-9FBB-632E6E27EFE9}" type="pres">
      <dgm:prSet presAssocID="{B73B1238-7923-48C7-ABE9-FACBBB3832A7}" presName="desTx" presStyleLbl="alignAccFollowNode1" presStyleIdx="0" presStyleCnt="7">
        <dgm:presLayoutVars/>
      </dgm:prSet>
      <dgm:spPr/>
    </dgm:pt>
    <dgm:pt modelId="{7DB2ED02-4BF4-48F8-B67D-AAB13939F31E}" type="pres">
      <dgm:prSet presAssocID="{34E5E44F-CDAA-4BCB-B3F8-26B37AAAF740}" presName="space" presStyleCnt="0"/>
      <dgm:spPr/>
    </dgm:pt>
    <dgm:pt modelId="{8B53BCB4-8F0A-45BA-AA2E-8DA54271E055}" type="pres">
      <dgm:prSet presAssocID="{3B74C516-1A02-431D-89BC-3DB4885E9625}" presName="composite" presStyleCnt="0"/>
      <dgm:spPr/>
    </dgm:pt>
    <dgm:pt modelId="{35D36832-1BBE-43BD-9236-A527F6296E52}" type="pres">
      <dgm:prSet presAssocID="{3B74C516-1A02-431D-89BC-3DB4885E9625}" presName="parTx" presStyleLbl="alignNode1" presStyleIdx="1" presStyleCnt="7">
        <dgm:presLayoutVars>
          <dgm:chMax val="0"/>
          <dgm:chPref val="0"/>
        </dgm:presLayoutVars>
      </dgm:prSet>
      <dgm:spPr/>
    </dgm:pt>
    <dgm:pt modelId="{312EA159-4F3C-4FE9-8ED5-E9A8517E897B}" type="pres">
      <dgm:prSet presAssocID="{3B74C516-1A02-431D-89BC-3DB4885E9625}" presName="desTx" presStyleLbl="alignAccFollowNode1" presStyleIdx="1" presStyleCnt="7">
        <dgm:presLayoutVars/>
      </dgm:prSet>
      <dgm:spPr/>
    </dgm:pt>
    <dgm:pt modelId="{003622A2-1699-4413-9AA9-93E0EDBD3C7E}" type="pres">
      <dgm:prSet presAssocID="{CDC9FD16-C91F-4B00-92F1-79FA10463A2D}" presName="space" presStyleCnt="0"/>
      <dgm:spPr/>
    </dgm:pt>
    <dgm:pt modelId="{817920AE-C3B4-4880-B9E2-70B57EEF8BF8}" type="pres">
      <dgm:prSet presAssocID="{34987020-E065-4987-B47F-CA0A99D3B971}" presName="composite" presStyleCnt="0"/>
      <dgm:spPr/>
    </dgm:pt>
    <dgm:pt modelId="{A3D33916-F0A3-41EE-8DF9-F34AB6151A36}" type="pres">
      <dgm:prSet presAssocID="{34987020-E065-4987-B47F-CA0A99D3B971}" presName="parTx" presStyleLbl="alignNode1" presStyleIdx="2" presStyleCnt="7">
        <dgm:presLayoutVars>
          <dgm:chMax val="0"/>
          <dgm:chPref val="0"/>
        </dgm:presLayoutVars>
      </dgm:prSet>
      <dgm:spPr/>
    </dgm:pt>
    <dgm:pt modelId="{1E7DDAB4-FEB2-4646-A347-907F2E8A0528}" type="pres">
      <dgm:prSet presAssocID="{34987020-E065-4987-B47F-CA0A99D3B971}" presName="desTx" presStyleLbl="alignAccFollowNode1" presStyleIdx="2" presStyleCnt="7">
        <dgm:presLayoutVars/>
      </dgm:prSet>
      <dgm:spPr/>
    </dgm:pt>
    <dgm:pt modelId="{F5BD6B97-79A0-48A3-A61E-587C71BF641A}" type="pres">
      <dgm:prSet presAssocID="{23DEBF26-9AE3-4046-9F54-C073D41B87C5}" presName="space" presStyleCnt="0"/>
      <dgm:spPr/>
    </dgm:pt>
    <dgm:pt modelId="{C3024D5E-A945-4069-9802-37DE1262E4A7}" type="pres">
      <dgm:prSet presAssocID="{754F0A54-669E-4DD2-AD04-7E7B41127BD5}" presName="composite" presStyleCnt="0"/>
      <dgm:spPr/>
    </dgm:pt>
    <dgm:pt modelId="{051D59D2-5011-4173-981B-7C4C52815315}" type="pres">
      <dgm:prSet presAssocID="{754F0A54-669E-4DD2-AD04-7E7B41127BD5}" presName="parTx" presStyleLbl="alignNode1" presStyleIdx="3" presStyleCnt="7">
        <dgm:presLayoutVars>
          <dgm:chMax val="0"/>
          <dgm:chPref val="0"/>
        </dgm:presLayoutVars>
      </dgm:prSet>
      <dgm:spPr/>
    </dgm:pt>
    <dgm:pt modelId="{0DDD180D-A51B-4119-AA9E-ADCD16A5A98D}" type="pres">
      <dgm:prSet presAssocID="{754F0A54-669E-4DD2-AD04-7E7B41127BD5}" presName="desTx" presStyleLbl="alignAccFollowNode1" presStyleIdx="3" presStyleCnt="7">
        <dgm:presLayoutVars/>
      </dgm:prSet>
      <dgm:spPr/>
    </dgm:pt>
    <dgm:pt modelId="{65339EA7-D1DF-4B62-9C72-34DE6D6DEC71}" type="pres">
      <dgm:prSet presAssocID="{34EF5D88-3A2D-477D-8CBA-FACF0DEB1B39}" presName="space" presStyleCnt="0"/>
      <dgm:spPr/>
    </dgm:pt>
    <dgm:pt modelId="{4D41B95F-1435-4F22-8C3D-AC30F07264A3}" type="pres">
      <dgm:prSet presAssocID="{4CC738ED-9B9E-4DB9-8A29-76E53A7F98D7}" presName="composite" presStyleCnt="0"/>
      <dgm:spPr/>
    </dgm:pt>
    <dgm:pt modelId="{22315326-AAFA-455F-BF08-737964F35059}" type="pres">
      <dgm:prSet presAssocID="{4CC738ED-9B9E-4DB9-8A29-76E53A7F98D7}" presName="parTx" presStyleLbl="alignNode1" presStyleIdx="4" presStyleCnt="7">
        <dgm:presLayoutVars>
          <dgm:chMax val="0"/>
          <dgm:chPref val="0"/>
        </dgm:presLayoutVars>
      </dgm:prSet>
      <dgm:spPr/>
    </dgm:pt>
    <dgm:pt modelId="{857D26C3-7545-4F25-980F-19E1C58A5E30}" type="pres">
      <dgm:prSet presAssocID="{4CC738ED-9B9E-4DB9-8A29-76E53A7F98D7}" presName="desTx" presStyleLbl="alignAccFollowNode1" presStyleIdx="4" presStyleCnt="7">
        <dgm:presLayoutVars/>
      </dgm:prSet>
      <dgm:spPr/>
    </dgm:pt>
    <dgm:pt modelId="{5446A149-A96E-4164-BB39-999901BF304E}" type="pres">
      <dgm:prSet presAssocID="{16A8C267-83B4-4DF5-95D8-EEDA264AE044}" presName="space" presStyleCnt="0"/>
      <dgm:spPr/>
    </dgm:pt>
    <dgm:pt modelId="{7298E3BF-73EF-44C7-9378-6921373B8344}" type="pres">
      <dgm:prSet presAssocID="{1BD865E2-8B1A-477B-A798-1BC582FF9BBC}" presName="composite" presStyleCnt="0"/>
      <dgm:spPr/>
    </dgm:pt>
    <dgm:pt modelId="{A3CFFFB1-3FB1-4570-AE28-E80015BC2705}" type="pres">
      <dgm:prSet presAssocID="{1BD865E2-8B1A-477B-A798-1BC582FF9BBC}" presName="parTx" presStyleLbl="alignNode1" presStyleIdx="5" presStyleCnt="7">
        <dgm:presLayoutVars>
          <dgm:chMax val="0"/>
          <dgm:chPref val="0"/>
        </dgm:presLayoutVars>
      </dgm:prSet>
      <dgm:spPr/>
    </dgm:pt>
    <dgm:pt modelId="{B8158CA7-0AF3-465C-9A61-114073BA4467}" type="pres">
      <dgm:prSet presAssocID="{1BD865E2-8B1A-477B-A798-1BC582FF9BBC}" presName="desTx" presStyleLbl="alignAccFollowNode1" presStyleIdx="5" presStyleCnt="7">
        <dgm:presLayoutVars/>
      </dgm:prSet>
      <dgm:spPr/>
    </dgm:pt>
    <dgm:pt modelId="{651EE15E-7A6B-474D-BC37-B90A8793ABCC}" type="pres">
      <dgm:prSet presAssocID="{8045FD05-35DF-4DA8-8222-85FAA25EF61E}" presName="space" presStyleCnt="0"/>
      <dgm:spPr/>
    </dgm:pt>
    <dgm:pt modelId="{9A0500C5-2895-4366-B72D-488865948767}" type="pres">
      <dgm:prSet presAssocID="{3D132F41-9DEA-4C61-97EB-C1F309C9CFE8}" presName="composite" presStyleCnt="0"/>
      <dgm:spPr/>
    </dgm:pt>
    <dgm:pt modelId="{89B8602D-AB32-4941-A07E-ECDFE9CB006A}" type="pres">
      <dgm:prSet presAssocID="{3D132F41-9DEA-4C61-97EB-C1F309C9CFE8}" presName="parTx" presStyleLbl="alignNode1" presStyleIdx="6" presStyleCnt="7">
        <dgm:presLayoutVars>
          <dgm:chMax val="0"/>
          <dgm:chPref val="0"/>
        </dgm:presLayoutVars>
      </dgm:prSet>
      <dgm:spPr/>
    </dgm:pt>
    <dgm:pt modelId="{BF0DBA5D-BC5C-429A-B4E4-5049F2DEF884}" type="pres">
      <dgm:prSet presAssocID="{3D132F41-9DEA-4C61-97EB-C1F309C9CFE8}" presName="desTx" presStyleLbl="alignAccFollowNode1" presStyleIdx="6" presStyleCnt="7">
        <dgm:presLayoutVars/>
      </dgm:prSet>
      <dgm:spPr/>
    </dgm:pt>
  </dgm:ptLst>
  <dgm:cxnLst>
    <dgm:cxn modelId="{C8F87802-0AD9-4208-B08E-35C810E2F581}" srcId="{B73B1238-7923-48C7-ABE9-FACBBB3832A7}" destId="{06598F53-E5D4-453C-9371-3A02B99039CF}" srcOrd="2" destOrd="0" parTransId="{D4204FBA-28B5-4B1C-9E9D-6D116644DA10}" sibTransId="{8642233E-9F5C-4565-A1E2-95C753EBF591}"/>
    <dgm:cxn modelId="{C59B7504-5D7B-4944-99D2-F85FAFC60E46}" type="presOf" srcId="{4CC738ED-9B9E-4DB9-8A29-76E53A7F98D7}" destId="{22315326-AAFA-455F-BF08-737964F35059}" srcOrd="0" destOrd="0" presId="urn:microsoft.com/office/officeart/2016/7/layout/ChevronBlockProcess"/>
    <dgm:cxn modelId="{11829905-B4DB-4799-B4D3-03A24CCFFE19}" srcId="{54599F1E-9F16-45A0-B7A4-8B1E1A3BA92C}" destId="{B73B1238-7923-48C7-ABE9-FACBBB3832A7}" srcOrd="0" destOrd="0" parTransId="{10A1987A-D226-4C52-BA41-D89284095598}" sibTransId="{34E5E44F-CDAA-4BCB-B3F8-26B37AAAF740}"/>
    <dgm:cxn modelId="{BAE94F06-95FA-4273-8131-416A74685E29}" type="presOf" srcId="{34987020-E065-4987-B47F-CA0A99D3B971}" destId="{A3D33916-F0A3-41EE-8DF9-F34AB6151A36}" srcOrd="0" destOrd="0" presId="urn:microsoft.com/office/officeart/2016/7/layout/ChevronBlockProcess"/>
    <dgm:cxn modelId="{AB6B4507-CD7C-4739-A842-D67A1DC1B45C}" type="presOf" srcId="{7EFD594B-E294-4C5B-9F6B-6D7E4A5296EE}" destId="{0DDD180D-A51B-4119-AA9E-ADCD16A5A98D}" srcOrd="0" destOrd="0" presId="urn:microsoft.com/office/officeart/2016/7/layout/ChevronBlockProcess"/>
    <dgm:cxn modelId="{7D84FA13-F140-462E-A215-22F831D41C5E}" type="presOf" srcId="{754F0A54-669E-4DD2-AD04-7E7B41127BD5}" destId="{051D59D2-5011-4173-981B-7C4C52815315}" srcOrd="0" destOrd="0" presId="urn:microsoft.com/office/officeart/2016/7/layout/ChevronBlockProcess"/>
    <dgm:cxn modelId="{8610551D-695B-43D4-B3B7-FD0B04597866}" type="presOf" srcId="{06598F53-E5D4-453C-9371-3A02B99039CF}" destId="{20D96762-97A0-470C-9FBB-632E6E27EFE9}" srcOrd="0" destOrd="2" presId="urn:microsoft.com/office/officeart/2016/7/layout/ChevronBlockProcess"/>
    <dgm:cxn modelId="{77BB9B2C-95A1-48B1-A669-020D7FA2B5C9}" type="presOf" srcId="{3B74C516-1A02-431D-89BC-3DB4885E9625}" destId="{35D36832-1BBE-43BD-9236-A527F6296E52}" srcOrd="0" destOrd="0" presId="urn:microsoft.com/office/officeart/2016/7/layout/ChevronBlockProcess"/>
    <dgm:cxn modelId="{F2BFAE2F-4B98-4586-B6A0-ED733A83B348}" srcId="{B73B1238-7923-48C7-ABE9-FACBBB3832A7}" destId="{9E13A00F-FB41-441A-838F-64BEF21FDB0D}" srcOrd="0" destOrd="0" parTransId="{6744D463-D826-45BE-8454-7A56A701A235}" sibTransId="{B822A0BD-9962-449E-8379-DA14F1CF70CF}"/>
    <dgm:cxn modelId="{3DB48B32-9660-434A-AD98-2E7F46E0CBBE}" srcId="{54599F1E-9F16-45A0-B7A4-8B1E1A3BA92C}" destId="{3D132F41-9DEA-4C61-97EB-C1F309C9CFE8}" srcOrd="6" destOrd="0" parTransId="{6C0CC1E0-9479-4561-AAC6-A00AD6758E79}" sibTransId="{88471558-6565-4E3C-9C1F-6C85CCC274F2}"/>
    <dgm:cxn modelId="{250E4638-C209-428C-B303-391EA4277037}" type="presOf" srcId="{54599F1E-9F16-45A0-B7A4-8B1E1A3BA92C}" destId="{D76D8A39-AFAB-4590-9ADA-70A843A078E6}" srcOrd="0" destOrd="0" presId="urn:microsoft.com/office/officeart/2016/7/layout/ChevronBlockProcess"/>
    <dgm:cxn modelId="{0B07FF39-EB1C-41D6-8687-621CFC6AFEDA}" srcId="{34987020-E065-4987-B47F-CA0A99D3B971}" destId="{74A738E7-1343-42D1-ABE8-B4DFE7ED4DF6}" srcOrd="0" destOrd="0" parTransId="{6F07F362-4AB4-4E83-A63E-F6405440CA8F}" sibTransId="{93CB7C23-6B20-4E9D-A56A-253B080EFCC3}"/>
    <dgm:cxn modelId="{B6640D3A-26C3-49FF-851F-D6708817143E}" type="presOf" srcId="{03EF6AB2-52EA-4558-AC11-B521DCEFB870}" destId="{20D96762-97A0-470C-9FBB-632E6E27EFE9}" srcOrd="0" destOrd="1" presId="urn:microsoft.com/office/officeart/2016/7/layout/ChevronBlockProcess"/>
    <dgm:cxn modelId="{57FA3A42-55EF-4483-AFF8-C57A6397ED80}" srcId="{54599F1E-9F16-45A0-B7A4-8B1E1A3BA92C}" destId="{34987020-E065-4987-B47F-CA0A99D3B971}" srcOrd="2" destOrd="0" parTransId="{8F8E13F2-E025-4A97-B30F-53971079A412}" sibTransId="{23DEBF26-9AE3-4046-9F54-C073D41B87C5}"/>
    <dgm:cxn modelId="{757D6966-D7F9-4EAA-BFDC-57A914C2BE49}" srcId="{4CC738ED-9B9E-4DB9-8A29-76E53A7F98D7}" destId="{9E7B3104-712F-455F-83AD-F8CADC38338C}" srcOrd="0" destOrd="0" parTransId="{BCC7673B-07A4-4145-88C0-573C4407C41F}" sibTransId="{4AF1CDC6-798F-4FE3-A684-A087C0366D0F}"/>
    <dgm:cxn modelId="{B3F09549-8EA0-4021-96E7-4D8441B0D33E}" srcId="{754F0A54-669E-4DD2-AD04-7E7B41127BD5}" destId="{7EFD594B-E294-4C5B-9F6B-6D7E4A5296EE}" srcOrd="0" destOrd="0" parTransId="{92EAE2C7-8A2D-4310-A853-6BFA712008E8}" sibTransId="{CF882C62-6174-4B88-9BA1-8EEAC33E6A2E}"/>
    <dgm:cxn modelId="{9FCA716F-BB0F-485A-A37B-109150E294EC}" srcId="{54599F1E-9F16-45A0-B7A4-8B1E1A3BA92C}" destId="{1BD865E2-8B1A-477B-A798-1BC582FF9BBC}" srcOrd="5" destOrd="0" parTransId="{AB8B7DA9-CE18-4B6A-976E-75B866ACDD01}" sibTransId="{8045FD05-35DF-4DA8-8222-85FAA25EF61E}"/>
    <dgm:cxn modelId="{4587B76F-EBEA-466F-953B-0B4E3CFD99D6}" type="presOf" srcId="{780EEEFC-5117-4617-BC8C-367A804F313F}" destId="{BF0DBA5D-BC5C-429A-B4E4-5049F2DEF884}" srcOrd="0" destOrd="0" presId="urn:microsoft.com/office/officeart/2016/7/layout/ChevronBlockProcess"/>
    <dgm:cxn modelId="{362B8F74-FCBF-43F9-8AC4-A12700AA8FF7}" srcId="{3B74C516-1A02-431D-89BC-3DB4885E9625}" destId="{4ACF1667-D5F3-4B78-A499-BF09EBCAE075}" srcOrd="0" destOrd="0" parTransId="{2DBF5AB5-8123-49E0-A1ED-FE7B1A30376D}" sibTransId="{B82F3DA3-BAC5-40D9-975B-20C14A00464F}"/>
    <dgm:cxn modelId="{4F14A954-5426-46D4-81FE-777C9116F39E}" srcId="{B73B1238-7923-48C7-ABE9-FACBBB3832A7}" destId="{03EF6AB2-52EA-4558-AC11-B521DCEFB870}" srcOrd="1" destOrd="0" parTransId="{F2699EDE-8578-4E20-ABD2-8DD3A2D8BD4F}" sibTransId="{6D5E6109-9B3E-4DAF-8E0F-3B35EC0FC7D7}"/>
    <dgm:cxn modelId="{2EC40A55-AB11-45E0-89B3-26A3AB5A3F29}" type="presOf" srcId="{1BD865E2-8B1A-477B-A798-1BC582FF9BBC}" destId="{A3CFFFB1-3FB1-4570-AE28-E80015BC2705}" srcOrd="0" destOrd="0" presId="urn:microsoft.com/office/officeart/2016/7/layout/ChevronBlockProcess"/>
    <dgm:cxn modelId="{DCF9FB5A-6FDD-45B4-B05A-94F3E8872CF4}" srcId="{54599F1E-9F16-45A0-B7A4-8B1E1A3BA92C}" destId="{754F0A54-669E-4DD2-AD04-7E7B41127BD5}" srcOrd="3" destOrd="0" parTransId="{5927736F-C96E-48BA-8621-A5E642A065E7}" sibTransId="{34EF5D88-3A2D-477D-8CBA-FACF0DEB1B39}"/>
    <dgm:cxn modelId="{A534767D-3849-403C-8CF8-F2782A78AB84}" type="presOf" srcId="{3AF2A6B2-2120-4FC2-AB94-83A7D3B38353}" destId="{B8158CA7-0AF3-465C-9A61-114073BA4467}" srcOrd="0" destOrd="0" presId="urn:microsoft.com/office/officeart/2016/7/layout/ChevronBlockProcess"/>
    <dgm:cxn modelId="{D47DB396-C565-48B7-A93C-B3F4B196196F}" srcId="{1BD865E2-8B1A-477B-A798-1BC582FF9BBC}" destId="{3AF2A6B2-2120-4FC2-AB94-83A7D3B38353}" srcOrd="0" destOrd="0" parTransId="{FD67117C-1DFD-400F-809A-D4B68BA60A3B}" sibTransId="{BEA75424-558F-4028-9A5E-CB0717DB9452}"/>
    <dgm:cxn modelId="{F9C601A0-1A2E-47DA-B504-B6F1058E28EF}" type="presOf" srcId="{B73B1238-7923-48C7-ABE9-FACBBB3832A7}" destId="{8EF171A3-6EBD-4520-9D64-FD9F390E1F97}" srcOrd="0" destOrd="0" presId="urn:microsoft.com/office/officeart/2016/7/layout/ChevronBlockProcess"/>
    <dgm:cxn modelId="{B23935A2-9793-413B-AF7C-352CD9BC8A1D}" type="presOf" srcId="{9E7B3104-712F-455F-83AD-F8CADC38338C}" destId="{857D26C3-7545-4F25-980F-19E1C58A5E30}" srcOrd="0" destOrd="0" presId="urn:microsoft.com/office/officeart/2016/7/layout/ChevronBlockProcess"/>
    <dgm:cxn modelId="{9F0CD0B5-CB91-49BD-9588-DFE1C3BD7316}" type="presOf" srcId="{74A738E7-1343-42D1-ABE8-B4DFE7ED4DF6}" destId="{1E7DDAB4-FEB2-4646-A347-907F2E8A0528}" srcOrd="0" destOrd="0" presId="urn:microsoft.com/office/officeart/2016/7/layout/ChevronBlockProcess"/>
    <dgm:cxn modelId="{292202B7-B0B5-4443-8C93-6F63F72516CF}" type="presOf" srcId="{4ACF1667-D5F3-4B78-A499-BF09EBCAE075}" destId="{312EA159-4F3C-4FE9-8ED5-E9A8517E897B}" srcOrd="0" destOrd="0" presId="urn:microsoft.com/office/officeart/2016/7/layout/ChevronBlockProcess"/>
    <dgm:cxn modelId="{225E3FC3-380A-4368-BFC3-4EF20092970D}" srcId="{54599F1E-9F16-45A0-B7A4-8B1E1A3BA92C}" destId="{3B74C516-1A02-431D-89BC-3DB4885E9625}" srcOrd="1" destOrd="0" parTransId="{8C1E5477-30A6-4A76-9DEF-1F47626618FA}" sibTransId="{CDC9FD16-C91F-4B00-92F1-79FA10463A2D}"/>
    <dgm:cxn modelId="{F57950CD-623D-4A3F-BC94-E5BFD4E11BFE}" type="presOf" srcId="{9E13A00F-FB41-441A-838F-64BEF21FDB0D}" destId="{20D96762-97A0-470C-9FBB-632E6E27EFE9}" srcOrd="0" destOrd="0" presId="urn:microsoft.com/office/officeart/2016/7/layout/ChevronBlockProcess"/>
    <dgm:cxn modelId="{81593BDE-5104-4A71-8387-EDF4235590BA}" srcId="{54599F1E-9F16-45A0-B7A4-8B1E1A3BA92C}" destId="{4CC738ED-9B9E-4DB9-8A29-76E53A7F98D7}" srcOrd="4" destOrd="0" parTransId="{AE374C4E-CBFA-4CE2-BC29-B719323EFD21}" sibTransId="{16A8C267-83B4-4DF5-95D8-EEDA264AE044}"/>
    <dgm:cxn modelId="{0B309DE4-4230-454C-B55C-D47E41B8AB05}" type="presOf" srcId="{3D132F41-9DEA-4C61-97EB-C1F309C9CFE8}" destId="{89B8602D-AB32-4941-A07E-ECDFE9CB006A}" srcOrd="0" destOrd="0" presId="urn:microsoft.com/office/officeart/2016/7/layout/ChevronBlockProcess"/>
    <dgm:cxn modelId="{57B1E4FD-329D-42C3-B3CC-052EE6720C5A}" srcId="{3D132F41-9DEA-4C61-97EB-C1F309C9CFE8}" destId="{780EEEFC-5117-4617-BC8C-367A804F313F}" srcOrd="0" destOrd="0" parTransId="{245E7726-334A-4C95-8A27-5083D7334FE8}" sibTransId="{271A2AFF-8B6B-45C0-933C-50B23707A5D5}"/>
    <dgm:cxn modelId="{CD1336A8-C3D5-4090-93E9-A46908FD981B}" type="presParOf" srcId="{D76D8A39-AFAB-4590-9ADA-70A843A078E6}" destId="{CB6424A0-B346-4473-A5EC-B6CE292A004A}" srcOrd="0" destOrd="0" presId="urn:microsoft.com/office/officeart/2016/7/layout/ChevronBlockProcess"/>
    <dgm:cxn modelId="{52CC1DEF-9ADE-44F4-B85E-A9D2AA3D3758}" type="presParOf" srcId="{CB6424A0-B346-4473-A5EC-B6CE292A004A}" destId="{8EF171A3-6EBD-4520-9D64-FD9F390E1F97}" srcOrd="0" destOrd="0" presId="urn:microsoft.com/office/officeart/2016/7/layout/ChevronBlockProcess"/>
    <dgm:cxn modelId="{6F84EDDD-472E-4131-AA00-99A7EF3B5DE2}" type="presParOf" srcId="{CB6424A0-B346-4473-A5EC-B6CE292A004A}" destId="{20D96762-97A0-470C-9FBB-632E6E27EFE9}" srcOrd="1" destOrd="0" presId="urn:microsoft.com/office/officeart/2016/7/layout/ChevronBlockProcess"/>
    <dgm:cxn modelId="{80D31A28-AAB4-4A32-AEC1-6BC9E8888C73}" type="presParOf" srcId="{D76D8A39-AFAB-4590-9ADA-70A843A078E6}" destId="{7DB2ED02-4BF4-48F8-B67D-AAB13939F31E}" srcOrd="1" destOrd="0" presId="urn:microsoft.com/office/officeart/2016/7/layout/ChevronBlockProcess"/>
    <dgm:cxn modelId="{A0B6936D-6689-4D60-BBBC-40637D84E7D5}" type="presParOf" srcId="{D76D8A39-AFAB-4590-9ADA-70A843A078E6}" destId="{8B53BCB4-8F0A-45BA-AA2E-8DA54271E055}" srcOrd="2" destOrd="0" presId="urn:microsoft.com/office/officeart/2016/7/layout/ChevronBlockProcess"/>
    <dgm:cxn modelId="{61DEEE9A-C5FF-42FC-9405-88A72439DD6E}" type="presParOf" srcId="{8B53BCB4-8F0A-45BA-AA2E-8DA54271E055}" destId="{35D36832-1BBE-43BD-9236-A527F6296E52}" srcOrd="0" destOrd="0" presId="urn:microsoft.com/office/officeart/2016/7/layout/ChevronBlockProcess"/>
    <dgm:cxn modelId="{84031B53-9C04-4B03-A9CD-8EE6D07A2F2E}" type="presParOf" srcId="{8B53BCB4-8F0A-45BA-AA2E-8DA54271E055}" destId="{312EA159-4F3C-4FE9-8ED5-E9A8517E897B}" srcOrd="1" destOrd="0" presId="urn:microsoft.com/office/officeart/2016/7/layout/ChevronBlockProcess"/>
    <dgm:cxn modelId="{A84B82ED-9A9F-4486-AA77-8D5E27BD69FE}" type="presParOf" srcId="{D76D8A39-AFAB-4590-9ADA-70A843A078E6}" destId="{003622A2-1699-4413-9AA9-93E0EDBD3C7E}" srcOrd="3" destOrd="0" presId="urn:microsoft.com/office/officeart/2016/7/layout/ChevronBlockProcess"/>
    <dgm:cxn modelId="{275A839E-0E35-41E9-8CA9-4D2B91C7D4EA}" type="presParOf" srcId="{D76D8A39-AFAB-4590-9ADA-70A843A078E6}" destId="{817920AE-C3B4-4880-B9E2-70B57EEF8BF8}" srcOrd="4" destOrd="0" presId="urn:microsoft.com/office/officeart/2016/7/layout/ChevronBlockProcess"/>
    <dgm:cxn modelId="{E124C518-1B11-4520-9DE5-4A8249833FF5}" type="presParOf" srcId="{817920AE-C3B4-4880-B9E2-70B57EEF8BF8}" destId="{A3D33916-F0A3-41EE-8DF9-F34AB6151A36}" srcOrd="0" destOrd="0" presId="urn:microsoft.com/office/officeart/2016/7/layout/ChevronBlockProcess"/>
    <dgm:cxn modelId="{A0DFD140-D05B-4C8E-AAAE-A320002709D1}" type="presParOf" srcId="{817920AE-C3B4-4880-B9E2-70B57EEF8BF8}" destId="{1E7DDAB4-FEB2-4646-A347-907F2E8A0528}" srcOrd="1" destOrd="0" presId="urn:microsoft.com/office/officeart/2016/7/layout/ChevronBlockProcess"/>
    <dgm:cxn modelId="{253E944F-7EB5-4D39-A8E0-3DE102489FF5}" type="presParOf" srcId="{D76D8A39-AFAB-4590-9ADA-70A843A078E6}" destId="{F5BD6B97-79A0-48A3-A61E-587C71BF641A}" srcOrd="5" destOrd="0" presId="urn:microsoft.com/office/officeart/2016/7/layout/ChevronBlockProcess"/>
    <dgm:cxn modelId="{D178925E-6C54-4A2D-B019-5238ED04F030}" type="presParOf" srcId="{D76D8A39-AFAB-4590-9ADA-70A843A078E6}" destId="{C3024D5E-A945-4069-9802-37DE1262E4A7}" srcOrd="6" destOrd="0" presId="urn:microsoft.com/office/officeart/2016/7/layout/ChevronBlockProcess"/>
    <dgm:cxn modelId="{AAE82BD0-292E-4B62-8EB3-547C124A5439}" type="presParOf" srcId="{C3024D5E-A945-4069-9802-37DE1262E4A7}" destId="{051D59D2-5011-4173-981B-7C4C52815315}" srcOrd="0" destOrd="0" presId="urn:microsoft.com/office/officeart/2016/7/layout/ChevronBlockProcess"/>
    <dgm:cxn modelId="{4A945807-B721-44F8-85F2-07B726A0B5F0}" type="presParOf" srcId="{C3024D5E-A945-4069-9802-37DE1262E4A7}" destId="{0DDD180D-A51B-4119-AA9E-ADCD16A5A98D}" srcOrd="1" destOrd="0" presId="urn:microsoft.com/office/officeart/2016/7/layout/ChevronBlockProcess"/>
    <dgm:cxn modelId="{B3D96D31-8ABD-4968-9338-2E041C3FEA52}" type="presParOf" srcId="{D76D8A39-AFAB-4590-9ADA-70A843A078E6}" destId="{65339EA7-D1DF-4B62-9C72-34DE6D6DEC71}" srcOrd="7" destOrd="0" presId="urn:microsoft.com/office/officeart/2016/7/layout/ChevronBlockProcess"/>
    <dgm:cxn modelId="{DAFE2BAC-70BC-4632-BAB9-754B468D4818}" type="presParOf" srcId="{D76D8A39-AFAB-4590-9ADA-70A843A078E6}" destId="{4D41B95F-1435-4F22-8C3D-AC30F07264A3}" srcOrd="8" destOrd="0" presId="urn:microsoft.com/office/officeart/2016/7/layout/ChevronBlockProcess"/>
    <dgm:cxn modelId="{F10BFA33-3720-442E-BE64-509D9FDFED63}" type="presParOf" srcId="{4D41B95F-1435-4F22-8C3D-AC30F07264A3}" destId="{22315326-AAFA-455F-BF08-737964F35059}" srcOrd="0" destOrd="0" presId="urn:microsoft.com/office/officeart/2016/7/layout/ChevronBlockProcess"/>
    <dgm:cxn modelId="{4AA3CB3E-962B-4E24-AE5D-C71C74D459E2}" type="presParOf" srcId="{4D41B95F-1435-4F22-8C3D-AC30F07264A3}" destId="{857D26C3-7545-4F25-980F-19E1C58A5E30}" srcOrd="1" destOrd="0" presId="urn:microsoft.com/office/officeart/2016/7/layout/ChevronBlockProcess"/>
    <dgm:cxn modelId="{1C4F61A5-5CCA-447F-9F47-E9BFA6486B13}" type="presParOf" srcId="{D76D8A39-AFAB-4590-9ADA-70A843A078E6}" destId="{5446A149-A96E-4164-BB39-999901BF304E}" srcOrd="9" destOrd="0" presId="urn:microsoft.com/office/officeart/2016/7/layout/ChevronBlockProcess"/>
    <dgm:cxn modelId="{6D29E238-CC5B-4E54-85B8-4CF20871B427}" type="presParOf" srcId="{D76D8A39-AFAB-4590-9ADA-70A843A078E6}" destId="{7298E3BF-73EF-44C7-9378-6921373B8344}" srcOrd="10" destOrd="0" presId="urn:microsoft.com/office/officeart/2016/7/layout/ChevronBlockProcess"/>
    <dgm:cxn modelId="{8D8DA2CB-F725-463B-A22D-86DE4E3FCFFB}" type="presParOf" srcId="{7298E3BF-73EF-44C7-9378-6921373B8344}" destId="{A3CFFFB1-3FB1-4570-AE28-E80015BC2705}" srcOrd="0" destOrd="0" presId="urn:microsoft.com/office/officeart/2016/7/layout/ChevronBlockProcess"/>
    <dgm:cxn modelId="{D7DB1F90-71BD-4347-9378-9F1EB4F398E5}" type="presParOf" srcId="{7298E3BF-73EF-44C7-9378-6921373B8344}" destId="{B8158CA7-0AF3-465C-9A61-114073BA4467}" srcOrd="1" destOrd="0" presId="urn:microsoft.com/office/officeart/2016/7/layout/ChevronBlockProcess"/>
    <dgm:cxn modelId="{5339A8DC-6617-41C3-9312-4752B906D319}" type="presParOf" srcId="{D76D8A39-AFAB-4590-9ADA-70A843A078E6}" destId="{651EE15E-7A6B-474D-BC37-B90A8793ABCC}" srcOrd="11" destOrd="0" presId="urn:microsoft.com/office/officeart/2016/7/layout/ChevronBlockProcess"/>
    <dgm:cxn modelId="{78B75635-3627-4256-BEAC-29562000B050}" type="presParOf" srcId="{D76D8A39-AFAB-4590-9ADA-70A843A078E6}" destId="{9A0500C5-2895-4366-B72D-488865948767}" srcOrd="12" destOrd="0" presId="urn:microsoft.com/office/officeart/2016/7/layout/ChevronBlockProcess"/>
    <dgm:cxn modelId="{45C04F83-C2FC-469C-AC36-E44D5B3F2909}" type="presParOf" srcId="{9A0500C5-2895-4366-B72D-488865948767}" destId="{89B8602D-AB32-4941-A07E-ECDFE9CB006A}" srcOrd="0" destOrd="0" presId="urn:microsoft.com/office/officeart/2016/7/layout/ChevronBlockProcess"/>
    <dgm:cxn modelId="{286C6F9D-F3EF-4398-B5DA-204CF2D15835}" type="presParOf" srcId="{9A0500C5-2895-4366-B72D-488865948767}" destId="{BF0DBA5D-BC5C-429A-B4E4-5049F2DEF884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171A3-6EBD-4520-9D64-FD9F390E1F97}">
      <dsp:nvSpPr>
        <dsp:cNvPr id="0" name=""/>
        <dsp:cNvSpPr/>
      </dsp:nvSpPr>
      <dsp:spPr>
        <a:xfrm>
          <a:off x="8082" y="63168"/>
          <a:ext cx="1344584" cy="40337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06" tIns="49806" rIns="49806" bIns="49806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Launch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129095" y="63168"/>
        <a:ext cx="1102559" cy="403375"/>
      </dsp:txXfrm>
    </dsp:sp>
    <dsp:sp modelId="{20D96762-97A0-470C-9FBB-632E6E27EFE9}">
      <dsp:nvSpPr>
        <dsp:cNvPr id="0" name=""/>
        <dsp:cNvSpPr/>
      </dsp:nvSpPr>
      <dsp:spPr>
        <a:xfrm>
          <a:off x="8082" y="466543"/>
          <a:ext cx="1223572" cy="273379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89" tIns="96689" rIns="96689" bIns="193379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Eligible loyalty members gain access to StockLoyal
Minimum points and tier requirements enforced
Investment feature enabled within merchant program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8082" y="466543"/>
        <a:ext cx="1223572" cy="2733792"/>
      </dsp:txXfrm>
    </dsp:sp>
    <dsp:sp modelId="{D734C0BC-C5A2-448A-BBF1-3B965B1DC6C5}">
      <dsp:nvSpPr>
        <dsp:cNvPr id="0" name=""/>
        <dsp:cNvSpPr/>
      </dsp:nvSpPr>
      <dsp:spPr>
        <a:xfrm>
          <a:off x="1313272" y="63168"/>
          <a:ext cx="1344584" cy="40337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06" tIns="49806" rIns="49806" bIns="49806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Member Profile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1434285" y="63168"/>
        <a:ext cx="1102559" cy="403375"/>
      </dsp:txXfrm>
    </dsp:sp>
    <dsp:sp modelId="{1560CEEF-876F-42DB-8CFB-DEF1FD76DDCA}">
      <dsp:nvSpPr>
        <dsp:cNvPr id="0" name=""/>
        <dsp:cNvSpPr/>
      </dsp:nvSpPr>
      <dsp:spPr>
        <a:xfrm>
          <a:off x="1313272" y="466543"/>
          <a:ext cx="1223572" cy="273379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89" tIns="96689" rIns="96689" bIns="193379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Provide basic profile information
Upload profile photo (optional)
Personalize account and social features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1313272" y="466543"/>
        <a:ext cx="1223572" cy="2733792"/>
      </dsp:txXfrm>
    </dsp:sp>
    <dsp:sp modelId="{ADA6F0ED-BC77-443B-9E78-C088A566B8B3}">
      <dsp:nvSpPr>
        <dsp:cNvPr id="0" name=""/>
        <dsp:cNvSpPr/>
      </dsp:nvSpPr>
      <dsp:spPr>
        <a:xfrm>
          <a:off x="2618462" y="63168"/>
          <a:ext cx="1344584" cy="40337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06" tIns="49806" rIns="49806" bIns="49806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Select Broker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2739475" y="63168"/>
        <a:ext cx="1102559" cy="403375"/>
      </dsp:txXfrm>
    </dsp:sp>
    <dsp:sp modelId="{1A4602B5-3EA8-4E69-85C5-C39DCC9A1474}">
      <dsp:nvSpPr>
        <dsp:cNvPr id="0" name=""/>
        <dsp:cNvSpPr/>
      </dsp:nvSpPr>
      <dsp:spPr>
        <a:xfrm>
          <a:off x="2618462" y="466543"/>
          <a:ext cx="1223572" cy="273379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89" tIns="96689" rIns="96689" bIns="193379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Member must have an active brokerage account
Broker must support fractional shares
Member securely links broker credentials
Credentials are not visible to StockLoyal
Broker confirms account connection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2618462" y="466543"/>
        <a:ext cx="1223572" cy="2733792"/>
      </dsp:txXfrm>
    </dsp:sp>
    <dsp:sp modelId="{61C35897-B2D8-4CF8-8744-3D042E4148E4}">
      <dsp:nvSpPr>
        <dsp:cNvPr id="0" name=""/>
        <dsp:cNvSpPr/>
      </dsp:nvSpPr>
      <dsp:spPr>
        <a:xfrm>
          <a:off x="3923652" y="63168"/>
          <a:ext cx="1344584" cy="40337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06" tIns="49806" rIns="49806" bIns="49806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Investment Election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4044665" y="63168"/>
        <a:ext cx="1102559" cy="403375"/>
      </dsp:txXfrm>
    </dsp:sp>
    <dsp:sp modelId="{02E8FB6B-C5B9-4806-B6A0-78B95474DA08}">
      <dsp:nvSpPr>
        <dsp:cNvPr id="0" name=""/>
        <dsp:cNvSpPr/>
      </dsp:nvSpPr>
      <dsp:spPr>
        <a:xfrm>
          <a:off x="3923652" y="466543"/>
          <a:ext cx="1223572" cy="273379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89" tIns="96689" rIns="96689" bIns="193379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Choose investment frequency:
</a:t>
          </a:r>
          <a:r>
            <a:rPr lang="en-US" sz="1050" b="1" kern="1200">
              <a:latin typeface="Calibri" panose="020F0502020204030204"/>
              <a:ea typeface="+mn-ea"/>
              <a:cs typeface="+mn-cs"/>
            </a:rPr>
            <a:t>One-Time</a:t>
          </a:r>
          <a:r>
            <a:rPr lang="en-US" sz="1050" kern="1200">
              <a:latin typeface="Calibri" panose="020F0502020204030204"/>
              <a:ea typeface="+mn-ea"/>
              <a:cs typeface="+mn-cs"/>
            </a:rPr>
            <a:t>, Basket executes once
Basket cleared after execution
</a:t>
          </a:r>
          <a:r>
            <a:rPr lang="en-US" sz="1050" b="1" kern="1200">
              <a:latin typeface="Calibri" panose="020F0502020204030204"/>
              <a:ea typeface="+mn-ea"/>
              <a:cs typeface="+mn-cs"/>
            </a:rPr>
            <a:t>Monthly</a:t>
          </a:r>
          <a:r>
            <a:rPr lang="en-US" sz="1050" kern="1200">
              <a:latin typeface="Calibri" panose="020F0502020204030204"/>
              <a:ea typeface="+mn-ea"/>
              <a:cs typeface="+mn-cs"/>
            </a:rPr>
            <a:t>, Recurring sweep process
Executes when sufficient points are available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3923652" y="466543"/>
        <a:ext cx="1223572" cy="2733792"/>
      </dsp:txXfrm>
    </dsp:sp>
    <dsp:sp modelId="{8F47454C-CD4C-43AA-BAB1-888AE39FB8AE}">
      <dsp:nvSpPr>
        <dsp:cNvPr id="0" name=""/>
        <dsp:cNvSpPr/>
      </dsp:nvSpPr>
      <dsp:spPr>
        <a:xfrm>
          <a:off x="5228842" y="63168"/>
          <a:ext cx="1344584" cy="40337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06" tIns="49806" rIns="49806" bIns="49806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Wallet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5349855" y="63168"/>
        <a:ext cx="1102559" cy="403375"/>
      </dsp:txXfrm>
    </dsp:sp>
    <dsp:sp modelId="{9EDB14A2-2BFD-42AF-97CD-17AFAD327B51}">
      <dsp:nvSpPr>
        <dsp:cNvPr id="0" name=""/>
        <dsp:cNvSpPr/>
      </dsp:nvSpPr>
      <dsp:spPr>
        <a:xfrm>
          <a:off x="5228842" y="466543"/>
          <a:ext cx="1223572" cy="273379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89" tIns="96689" rIns="96689" bIns="193379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View available loyalty points
See cash-equivalent value (based on conversion rate)
Access transaction history
View order history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5228842" y="466543"/>
        <a:ext cx="1223572" cy="2733792"/>
      </dsp:txXfrm>
    </dsp:sp>
    <dsp:sp modelId="{AC1B32DD-99DC-4BBC-B40E-D4107F6F543F}">
      <dsp:nvSpPr>
        <dsp:cNvPr id="0" name=""/>
        <dsp:cNvSpPr/>
      </dsp:nvSpPr>
      <dsp:spPr>
        <a:xfrm>
          <a:off x="6534032" y="63168"/>
          <a:ext cx="1344584" cy="40337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806" tIns="49806" rIns="49806" bIns="49806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Stock Picker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6655045" y="63168"/>
        <a:ext cx="1102559" cy="403375"/>
      </dsp:txXfrm>
    </dsp:sp>
    <dsp:sp modelId="{F0BDEB79-6224-40E1-B161-50D34EB6FB66}">
      <dsp:nvSpPr>
        <dsp:cNvPr id="0" name=""/>
        <dsp:cNvSpPr/>
      </dsp:nvSpPr>
      <dsp:spPr>
        <a:xfrm>
          <a:off x="6534032" y="466543"/>
          <a:ext cx="1223572" cy="273379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89" tIns="96689" rIns="96689" bIns="193379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Calibri" panose="020F0502020204030204"/>
              <a:ea typeface="+mn-ea"/>
              <a:cs typeface="+mn-cs"/>
            </a:rPr>
            <a:t>Browse categories or search securities
Add stocks/ETFs to personal Basket
Orders executed through linked broker
Basket saved for future sweeps (monthly members)</a:t>
          </a:r>
          <a:endParaRPr lang="en-US" sz="1050" kern="1200" dirty="0">
            <a:latin typeface="Calibri" panose="020F0502020204030204"/>
            <a:ea typeface="+mn-ea"/>
            <a:cs typeface="+mn-cs"/>
          </a:endParaRPr>
        </a:p>
      </dsp:txBody>
      <dsp:txXfrm>
        <a:off x="6534032" y="466543"/>
        <a:ext cx="1223572" cy="27337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171A3-6EBD-4520-9D64-FD9F390E1F97}">
      <dsp:nvSpPr>
        <dsp:cNvPr id="0" name=""/>
        <dsp:cNvSpPr/>
      </dsp:nvSpPr>
      <dsp:spPr>
        <a:xfrm>
          <a:off x="4688" y="169"/>
          <a:ext cx="1156866" cy="347059"/>
        </a:xfrm>
        <a:prstGeom prst="chevron">
          <a:avLst>
            <a:gd name="adj" fmla="val 30000"/>
          </a:avLst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Prepare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108806" y="169"/>
        <a:ext cx="948630" cy="347059"/>
      </dsp:txXfrm>
    </dsp:sp>
    <dsp:sp modelId="{20D96762-97A0-470C-9FBB-632E6E27EFE9}">
      <dsp:nvSpPr>
        <dsp:cNvPr id="0" name=""/>
        <dsp:cNvSpPr/>
      </dsp:nvSpPr>
      <dsp:spPr>
        <a:xfrm>
          <a:off x="4688" y="347229"/>
          <a:ext cx="1052748" cy="2916104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Member selects securities in My Basket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Investment percentage applied to loyalty balance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Points converted to cash-equivalent value
Broker minimum / maximum limits enforced
Merchant completes funding reconciliation 
Batch approved for release
Orders marked</a:t>
          </a:r>
          <a:r>
            <a:rPr lang="en-US" sz="9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Pending</a:t>
          </a:r>
          <a:endParaRPr lang="en-US" sz="9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4688" y="347229"/>
        <a:ext cx="1052748" cy="2916104"/>
      </dsp:txXfrm>
    </dsp:sp>
    <dsp:sp modelId="{35D36832-1BBE-43BD-9236-A527F6296E52}">
      <dsp:nvSpPr>
        <dsp:cNvPr id="0" name=""/>
        <dsp:cNvSpPr/>
      </dsp:nvSpPr>
      <dsp:spPr>
        <a:xfrm>
          <a:off x="1122198" y="169"/>
          <a:ext cx="1156866" cy="347059"/>
        </a:xfrm>
        <a:prstGeom prst="chevron">
          <a:avLst>
            <a:gd name="adj" fmla="val 30000"/>
          </a:avLst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Reserve Points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1226316" y="169"/>
        <a:ext cx="948630" cy="347059"/>
      </dsp:txXfrm>
    </dsp:sp>
    <dsp:sp modelId="{312EA159-4F3C-4FE9-8ED5-E9A8517E897B}">
      <dsp:nvSpPr>
        <dsp:cNvPr id="0" name=""/>
        <dsp:cNvSpPr/>
      </dsp:nvSpPr>
      <dsp:spPr>
        <a:xfrm>
          <a:off x="1122198" y="347229"/>
          <a:ext cx="1052748" cy="2916104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StockLoyal requests a points reservation hold from merchant
Merchant places hold on elected points
Reservation ID returned to StockLoyal
Points status updated to Reserved
Prevents double-spend or race conditions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1122198" y="347229"/>
        <a:ext cx="1052748" cy="2916104"/>
      </dsp:txXfrm>
    </dsp:sp>
    <dsp:sp modelId="{A3D33916-F0A3-41EE-8DF9-F34AB6151A36}">
      <dsp:nvSpPr>
        <dsp:cNvPr id="0" name=""/>
        <dsp:cNvSpPr/>
      </dsp:nvSpPr>
      <dsp:spPr>
        <a:xfrm>
          <a:off x="2239708" y="169"/>
          <a:ext cx="1156866" cy="347059"/>
        </a:xfrm>
        <a:prstGeom prst="chevron">
          <a:avLst>
            <a:gd name="adj" fmla="val 3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Sweep (Order Submission)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2343826" y="169"/>
        <a:ext cx="948630" cy="347059"/>
      </dsp:txXfrm>
    </dsp:sp>
    <dsp:sp modelId="{1E7DDAB4-FEB2-4646-A347-907F2E8A0528}">
      <dsp:nvSpPr>
        <dsp:cNvPr id="0" name=""/>
        <dsp:cNvSpPr/>
      </dsp:nvSpPr>
      <dsp:spPr>
        <a:xfrm>
          <a:off x="2239708" y="347229"/>
          <a:ext cx="1052748" cy="2916104"/>
        </a:xfrm>
        <a:prstGeom prst="rect">
          <a:avLst/>
        </a:prstGeom>
        <a:solidFill>
          <a:srgbClr val="FFC000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StockLoyal submits member buy orders to broker via secure webhook
Orders grouped by merchant and broker
Broker acknowledges receipt
Orders marked </a:t>
          </a:r>
          <a:r>
            <a:rPr lang="en-US" sz="9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Placed</a:t>
          </a:r>
          <a:endParaRPr lang="en-US" sz="9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2239708" y="347229"/>
        <a:ext cx="1052748" cy="2916104"/>
      </dsp:txXfrm>
    </dsp:sp>
    <dsp:sp modelId="{051D59D2-5011-4173-981B-7C4C52815315}">
      <dsp:nvSpPr>
        <dsp:cNvPr id="0" name=""/>
        <dsp:cNvSpPr/>
      </dsp:nvSpPr>
      <dsp:spPr>
        <a:xfrm>
          <a:off x="3357218" y="169"/>
          <a:ext cx="1156866" cy="347059"/>
        </a:xfrm>
        <a:prstGeom prst="chevron">
          <a:avLst>
            <a:gd name="adj" fmla="val 3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Debit Points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461336" y="169"/>
        <a:ext cx="948630" cy="347059"/>
      </dsp:txXfrm>
    </dsp:sp>
    <dsp:sp modelId="{0DDD180D-A51B-4119-AA9E-ADCD16A5A98D}">
      <dsp:nvSpPr>
        <dsp:cNvPr id="0" name=""/>
        <dsp:cNvSpPr/>
      </dsp:nvSpPr>
      <dsp:spPr>
        <a:xfrm>
          <a:off x="3357218" y="347229"/>
          <a:ext cx="1052748" cy="2916104"/>
        </a:xfrm>
        <a:prstGeom prst="rect">
          <a:avLst/>
        </a:prstGeom>
        <a:solidFill>
          <a:srgbClr val="5B9BD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Upon broker acknowledgment, StockLoyal sends points debit notification
Merchant converts reservation → final debit
Member loyalty balance reset accordingly
Full audit linkage:
Points status updated to Debited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3357218" y="347229"/>
        <a:ext cx="1052748" cy="2916104"/>
      </dsp:txXfrm>
    </dsp:sp>
    <dsp:sp modelId="{22315326-AAFA-455F-BF08-737964F35059}">
      <dsp:nvSpPr>
        <dsp:cNvPr id="0" name=""/>
        <dsp:cNvSpPr/>
      </dsp:nvSpPr>
      <dsp:spPr>
        <a:xfrm>
          <a:off x="4474728" y="169"/>
          <a:ext cx="1156866" cy="347059"/>
        </a:xfrm>
        <a:prstGeom prst="chevron">
          <a:avLst>
            <a:gd name="adj" fmla="val 30000"/>
          </a:avLst>
        </a:prstGeom>
        <a:solidFill>
          <a:srgbClr val="70AD47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Broker Execution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578846" y="169"/>
        <a:ext cx="948630" cy="347059"/>
      </dsp:txXfrm>
    </dsp:sp>
    <dsp:sp modelId="{857D26C3-7545-4F25-980F-19E1C58A5E30}">
      <dsp:nvSpPr>
        <dsp:cNvPr id="0" name=""/>
        <dsp:cNvSpPr/>
      </dsp:nvSpPr>
      <dsp:spPr>
        <a:xfrm>
          <a:off x="4474728" y="347229"/>
          <a:ext cx="1052748" cy="2916104"/>
        </a:xfrm>
        <a:prstGeom prst="rect">
          <a:avLst/>
        </a:prstGeom>
        <a:solidFill>
          <a:srgbClr val="70AD47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70AD47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Broker executes trades at market open (9:30 AM ET)
Trade confirmations returned via webhook
Orders marked </a:t>
          </a:r>
          <a:r>
            <a:rPr lang="en-US" sz="9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Confirmed</a:t>
          </a:r>
          <a:endParaRPr lang="en-US" sz="9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4474728" y="347229"/>
        <a:ext cx="1052748" cy="2916104"/>
      </dsp:txXfrm>
    </dsp:sp>
    <dsp:sp modelId="{A3CFFFB1-3FB1-4570-AE28-E80015BC2705}">
      <dsp:nvSpPr>
        <dsp:cNvPr id="0" name=""/>
        <dsp:cNvSpPr/>
      </dsp:nvSpPr>
      <dsp:spPr>
        <a:xfrm>
          <a:off x="5592238" y="169"/>
          <a:ext cx="1156866" cy="347059"/>
        </a:xfrm>
        <a:prstGeom prst="chevron">
          <a:avLst>
            <a:gd name="adj" fmla="val 30000"/>
          </a:avLst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Payment &amp; Allocation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5696356" y="169"/>
        <a:ext cx="948630" cy="347059"/>
      </dsp:txXfrm>
    </dsp:sp>
    <dsp:sp modelId="{B8158CA7-0AF3-465C-9A61-114073BA4467}">
      <dsp:nvSpPr>
        <dsp:cNvPr id="0" name=""/>
        <dsp:cNvSpPr/>
      </dsp:nvSpPr>
      <dsp:spPr>
        <a:xfrm>
          <a:off x="5592238" y="347229"/>
          <a:ext cx="1052748" cy="2916104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Merchant funding summary generated
Member-level allocation file created
Merchant executes ACH payment to broker(s)
Allocation file sent for account-level crediting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5592238" y="347229"/>
        <a:ext cx="1052748" cy="2916104"/>
      </dsp:txXfrm>
    </dsp:sp>
    <dsp:sp modelId="{89B8602D-AB32-4941-A07E-ECDFE9CB006A}">
      <dsp:nvSpPr>
        <dsp:cNvPr id="0" name=""/>
        <dsp:cNvSpPr/>
      </dsp:nvSpPr>
      <dsp:spPr>
        <a:xfrm>
          <a:off x="6709748" y="169"/>
          <a:ext cx="1156866" cy="347059"/>
        </a:xfrm>
        <a:prstGeom prst="chevron">
          <a:avLst>
            <a:gd name="adj" fmla="val 30000"/>
          </a:avLst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852" tIns="42852" rIns="42852" bIns="4285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Settlement</a:t>
          </a:r>
          <a:endParaRPr lang="en-US" sz="105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6813866" y="169"/>
        <a:ext cx="948630" cy="347059"/>
      </dsp:txXfrm>
    </dsp:sp>
    <dsp:sp modelId="{BF0DBA5D-BC5C-429A-B4E4-5049F2DEF884}">
      <dsp:nvSpPr>
        <dsp:cNvPr id="0" name=""/>
        <dsp:cNvSpPr/>
      </dsp:nvSpPr>
      <dsp:spPr>
        <a:xfrm>
          <a:off x="6709748" y="347229"/>
          <a:ext cx="1052748" cy="2916104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91" tIns="83191" rIns="83191" bIns="166381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Broker allocates funds to member accounts
Trades settle on T+1
Settlement confirmation returned
Orders marked </a:t>
          </a:r>
          <a:r>
            <a:rPr lang="en-US" sz="9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Settled</a:t>
          </a:r>
          <a:endParaRPr lang="en-US" sz="9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6709748" y="347229"/>
        <a:ext cx="1052748" cy="2916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024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B9AF-364B-C94E-06C7-BD867894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AD7408-F5AA-05ED-6BAE-4C0FC8AE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77" y="156245"/>
            <a:ext cx="1102571" cy="33019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F8E4A816-AD19-6702-8BD5-4B7DDDD8C5C2}"/>
              </a:ext>
            </a:extLst>
          </p:cNvPr>
          <p:cNvSpPr txBox="1"/>
          <p:nvPr/>
        </p:nvSpPr>
        <p:spPr>
          <a:xfrm>
            <a:off x="2730152" y="15607"/>
            <a:ext cx="355417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Stock</a:t>
            </a:r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Loyal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Operating Model</a:t>
            </a:r>
          </a:p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Loyalty Point Conversion 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 Trade Execution  Settlement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AA2B6AD-9FE6-461D-E5BA-7CB3ABF78B12}"/>
              </a:ext>
            </a:extLst>
          </p:cNvPr>
          <p:cNvGrpSpPr/>
          <p:nvPr/>
        </p:nvGrpSpPr>
        <p:grpSpPr>
          <a:xfrm>
            <a:off x="898478" y="603408"/>
            <a:ext cx="7644013" cy="4433203"/>
            <a:chOff x="898478" y="603408"/>
            <a:chExt cx="7644013" cy="443320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1FF058-5B1B-F369-2836-F66D145F8872}"/>
                </a:ext>
              </a:extLst>
            </p:cNvPr>
            <p:cNvGrpSpPr/>
            <p:nvPr/>
          </p:nvGrpSpPr>
          <p:grpSpPr>
            <a:xfrm>
              <a:off x="2462615" y="603408"/>
              <a:ext cx="4111256" cy="843516"/>
              <a:chOff x="2516372" y="1900570"/>
              <a:chExt cx="4111256" cy="843516"/>
            </a:xfrm>
          </p:grpSpPr>
          <p:sp>
            <p:nvSpPr>
              <p:cNvPr id="2" name="AutoShape 2">
                <a:extLst>
                  <a:ext uri="{FF2B5EF4-FFF2-40B4-BE49-F238E27FC236}">
                    <a16:creationId xmlns:a16="http://schemas.microsoft.com/office/drawing/2014/main" id="{C452CC79-3F9C-44A1-2A96-6F53B1CF08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19600" y="2419350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" name="Rectangle: Diagonal Corners Rounded 2">
                <a:extLst>
                  <a:ext uri="{FF2B5EF4-FFF2-40B4-BE49-F238E27FC236}">
                    <a16:creationId xmlns:a16="http://schemas.microsoft.com/office/drawing/2014/main" id="{B3B43CC3-3388-BEB2-7CB7-372603C80C3C}"/>
                  </a:ext>
                </a:extLst>
              </p:cNvPr>
              <p:cNvSpPr/>
              <p:nvPr/>
            </p:nvSpPr>
            <p:spPr>
              <a:xfrm>
                <a:off x="2516372" y="1900570"/>
                <a:ext cx="4111256" cy="843516"/>
              </a:xfrm>
              <a:prstGeom prst="round2DiagRect">
                <a:avLst>
                  <a:gd name="adj1" fmla="val 8264"/>
                  <a:gd name="adj2" fmla="val 0"/>
                </a:avLst>
              </a:prstGeom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8000000" scaled="0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" name="Graphic 8" descr="Trophy outline">
                <a:extLst>
                  <a:ext uri="{FF2B5EF4-FFF2-40B4-BE49-F238E27FC236}">
                    <a16:creationId xmlns:a16="http://schemas.microsoft.com/office/drawing/2014/main" id="{D6A013F9-D8B9-7A62-0643-BEFE87CA6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55249" y="1998920"/>
                <a:ext cx="514019" cy="571943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2689AB-0F7E-572E-59EF-D5AFFAE54491}"/>
                  </a:ext>
                </a:extLst>
              </p:cNvPr>
              <p:cNvSpPr txBox="1"/>
              <p:nvPr/>
            </p:nvSpPr>
            <p:spPr>
              <a:xfrm>
                <a:off x="3046749" y="1986197"/>
                <a:ext cx="21285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Merchant Loyalty Platform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C4BEF6-3F20-2346-FD17-B9BD8D937A7B}"/>
                  </a:ext>
                </a:extLst>
              </p:cNvPr>
              <p:cNvSpPr txBox="1"/>
              <p:nvPr/>
            </p:nvSpPr>
            <p:spPr>
              <a:xfrm>
                <a:off x="3052583" y="2226587"/>
                <a:ext cx="1609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bg1"/>
                    </a:solidFill>
                  </a:rPr>
                  <a:t>Points balance management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bg1"/>
                    </a:solidFill>
                  </a:rPr>
                  <a:t>Member eligibility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B9B34E-53B2-7BEB-02A5-DC9F08CF17FC}"/>
                  </a:ext>
                </a:extLst>
              </p:cNvPr>
              <p:cNvSpPr txBox="1"/>
              <p:nvPr/>
            </p:nvSpPr>
            <p:spPr>
              <a:xfrm>
                <a:off x="4746768" y="2234514"/>
                <a:ext cx="1827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bg1"/>
                    </a:solidFill>
                  </a:rPr>
                  <a:t>Reservation | Debit confirmation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bg1"/>
                    </a:solidFill>
                  </a:rPr>
                  <a:t>Loyalty ledger ownership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99F7D4B-5C4A-228E-F5E5-339818D5BE3A}"/>
                </a:ext>
              </a:extLst>
            </p:cNvPr>
            <p:cNvGrpSpPr/>
            <p:nvPr/>
          </p:nvGrpSpPr>
          <p:grpSpPr>
            <a:xfrm>
              <a:off x="898478" y="3678818"/>
              <a:ext cx="2615601" cy="1328906"/>
              <a:chOff x="-905004" y="2292590"/>
              <a:chExt cx="2615601" cy="132890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6341CF7-829B-2EBE-8303-FB332ADBED90}"/>
                  </a:ext>
                </a:extLst>
              </p:cNvPr>
              <p:cNvGrpSpPr/>
              <p:nvPr/>
            </p:nvGrpSpPr>
            <p:grpSpPr>
              <a:xfrm>
                <a:off x="-905004" y="2292590"/>
                <a:ext cx="2615601" cy="1328906"/>
                <a:chOff x="2923773" y="2088023"/>
                <a:chExt cx="2615601" cy="1328906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6DA4AB40-C3C3-14C1-C6B8-6AF93BA8A49A}"/>
                    </a:ext>
                  </a:extLst>
                </p:cNvPr>
                <p:cNvGrpSpPr/>
                <p:nvPr/>
              </p:nvGrpSpPr>
              <p:grpSpPr>
                <a:xfrm>
                  <a:off x="2923773" y="2088023"/>
                  <a:ext cx="2615601" cy="1328906"/>
                  <a:chOff x="2916605" y="2654597"/>
                  <a:chExt cx="2615601" cy="1328906"/>
                </a:xfrm>
              </p:grpSpPr>
              <p:sp>
                <p:nvSpPr>
                  <p:cNvPr id="39" name="Rectangle: Diagonal Corners Rounded 38">
                    <a:extLst>
                      <a:ext uri="{FF2B5EF4-FFF2-40B4-BE49-F238E27FC236}">
                        <a16:creationId xmlns:a16="http://schemas.microsoft.com/office/drawing/2014/main" id="{7EB4A95D-32AD-F6AA-5434-9839FB04E583}"/>
                      </a:ext>
                    </a:extLst>
                  </p:cNvPr>
                  <p:cNvSpPr/>
                  <p:nvPr/>
                </p:nvSpPr>
                <p:spPr>
                  <a:xfrm>
                    <a:off x="2916605" y="2656385"/>
                    <a:ext cx="2615601" cy="1327118"/>
                  </a:xfrm>
                  <a:prstGeom prst="round2DiagRect">
                    <a:avLst>
                      <a:gd name="adj1" fmla="val 3746"/>
                      <a:gd name="adj2" fmla="val 0"/>
                    </a:avLst>
                  </a:prstGeom>
                  <a:gradFill>
                    <a:gsLst>
                      <a:gs pos="0">
                        <a:srgbClr val="D7F2ED"/>
                      </a:gs>
                      <a:gs pos="48000">
                        <a:srgbClr val="F0FCFA"/>
                      </a:gs>
                      <a:gs pos="97000">
                        <a:srgbClr val="FFFFFF"/>
                      </a:gs>
                    </a:gsLst>
                    <a:lin ang="18000000" scaled="0"/>
                  </a:gradFill>
                  <a:ln w="15875">
                    <a:solidFill>
                      <a:srgbClr val="5E6986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97F23E45-B3F8-01D9-08AF-7EA9C3189586}"/>
                      </a:ext>
                    </a:extLst>
                  </p:cNvPr>
                  <p:cNvGrpSpPr/>
                  <p:nvPr/>
                </p:nvGrpSpPr>
                <p:grpSpPr>
                  <a:xfrm>
                    <a:off x="2916605" y="2654597"/>
                    <a:ext cx="2615601" cy="565811"/>
                    <a:chOff x="2916605" y="2654597"/>
                    <a:chExt cx="2615601" cy="565811"/>
                  </a:xfrm>
                </p:grpSpPr>
                <p:sp>
                  <p:nvSpPr>
                    <p:cNvPr id="41" name="Rectangle: Diagonal Corners Rounded 40">
                      <a:extLst>
                        <a:ext uri="{FF2B5EF4-FFF2-40B4-BE49-F238E27FC236}">
                          <a16:creationId xmlns:a16="http://schemas.microsoft.com/office/drawing/2014/main" id="{8BDE5FBD-D4B3-E48D-36C9-832F065F4C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6605" y="2654597"/>
                      <a:ext cx="2615601" cy="565811"/>
                    </a:xfrm>
                    <a:prstGeom prst="round2DiagRect">
                      <a:avLst>
                        <a:gd name="adj1" fmla="val 8900"/>
                        <a:gd name="adj2" fmla="val 0"/>
                      </a:avLst>
                    </a:prstGeom>
                    <a:gradFill flip="none" rotWithShape="1">
                      <a:gsLst>
                        <a:gs pos="0">
                          <a:srgbClr val="313849"/>
                        </a:gs>
                        <a:gs pos="48000">
                          <a:srgbClr val="4B546D"/>
                        </a:gs>
                        <a:gs pos="98000">
                          <a:srgbClr val="6E7A9B"/>
                        </a:gs>
                      </a:gsLst>
                      <a:lin ang="18000000" scaled="0"/>
                      <a:tileRect/>
                    </a:gradFill>
                    <a:ln>
                      <a:solidFill>
                        <a:srgbClr val="569B96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4D1F3882-42E4-34F2-6CE6-2569EF9490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0862" y="2656385"/>
                      <a:ext cx="120032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Broker-Dealer</a:t>
                      </a:r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EC97C32-32BE-1E3E-F6F2-C201DE35BC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12428" y="2902819"/>
                      <a:ext cx="1883849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Robinhood, Charles Schwab, etc.</a:t>
                      </a:r>
                    </a:p>
                  </p:txBody>
                </p:sp>
              </p:grpSp>
            </p:grp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84CBC40-0C7F-B514-28EB-8775C5676AE8}"/>
                    </a:ext>
                  </a:extLst>
                </p:cNvPr>
                <p:cNvSpPr txBox="1"/>
                <p:nvPr/>
              </p:nvSpPr>
              <p:spPr>
                <a:xfrm>
                  <a:off x="3169848" y="2678047"/>
                  <a:ext cx="120193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Trade execution</a:t>
                  </a:r>
                </a:p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Market pricing</a:t>
                  </a:r>
                </a:p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Confirmations</a:t>
                  </a:r>
                </a:p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Custodial services</a:t>
                  </a:r>
                </a:p>
              </p:txBody>
            </p:sp>
          </p:grpSp>
          <p:pic>
            <p:nvPicPr>
              <p:cNvPr id="46" name="Graphic 45" descr="Bank outline">
                <a:extLst>
                  <a:ext uri="{FF2B5EF4-FFF2-40B4-BE49-F238E27FC236}">
                    <a16:creationId xmlns:a16="http://schemas.microsoft.com/office/drawing/2014/main" id="{A39AB119-2706-E880-1FEA-27EDD8C1D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-788006" y="2323454"/>
                <a:ext cx="441902" cy="441902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C28306F-4BFB-B5B0-3F23-D95A4C5F1B2E}"/>
                </a:ext>
              </a:extLst>
            </p:cNvPr>
            <p:cNvGrpSpPr/>
            <p:nvPr/>
          </p:nvGrpSpPr>
          <p:grpSpPr>
            <a:xfrm>
              <a:off x="5926890" y="3707705"/>
              <a:ext cx="2615601" cy="1328906"/>
              <a:chOff x="6937721" y="2184444"/>
              <a:chExt cx="2615601" cy="132890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ADD912D-D267-260D-600F-7C6E90F42499}"/>
                  </a:ext>
                </a:extLst>
              </p:cNvPr>
              <p:cNvGrpSpPr/>
              <p:nvPr/>
            </p:nvGrpSpPr>
            <p:grpSpPr>
              <a:xfrm>
                <a:off x="6937721" y="2184444"/>
                <a:ext cx="2615601" cy="1328906"/>
                <a:chOff x="2923773" y="2088023"/>
                <a:chExt cx="2615601" cy="1328906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E076A802-12F6-59A8-5F8F-10B680CBC89F}"/>
                    </a:ext>
                  </a:extLst>
                </p:cNvPr>
                <p:cNvGrpSpPr/>
                <p:nvPr/>
              </p:nvGrpSpPr>
              <p:grpSpPr>
                <a:xfrm>
                  <a:off x="2923773" y="2088023"/>
                  <a:ext cx="2615601" cy="1328906"/>
                  <a:chOff x="2916605" y="2654597"/>
                  <a:chExt cx="2615601" cy="1328906"/>
                </a:xfrm>
              </p:grpSpPr>
              <p:sp>
                <p:nvSpPr>
                  <p:cNvPr id="50" name="Rectangle: Diagonal Corners Rounded 49">
                    <a:extLst>
                      <a:ext uri="{FF2B5EF4-FFF2-40B4-BE49-F238E27FC236}">
                        <a16:creationId xmlns:a16="http://schemas.microsoft.com/office/drawing/2014/main" id="{6BD317FF-7219-C4CE-E71E-7C82F2B7B0A6}"/>
                      </a:ext>
                    </a:extLst>
                  </p:cNvPr>
                  <p:cNvSpPr/>
                  <p:nvPr/>
                </p:nvSpPr>
                <p:spPr>
                  <a:xfrm>
                    <a:off x="2916605" y="2656385"/>
                    <a:ext cx="2615601" cy="1327118"/>
                  </a:xfrm>
                  <a:prstGeom prst="round2DiagRect">
                    <a:avLst>
                      <a:gd name="adj1" fmla="val 3746"/>
                      <a:gd name="adj2" fmla="val 0"/>
                    </a:avLst>
                  </a:prstGeom>
                  <a:gradFill>
                    <a:gsLst>
                      <a:gs pos="0">
                        <a:srgbClr val="D7F2ED"/>
                      </a:gs>
                      <a:gs pos="48000">
                        <a:srgbClr val="F0FCFA"/>
                      </a:gs>
                      <a:gs pos="97000">
                        <a:srgbClr val="FFFFFF"/>
                      </a:gs>
                    </a:gsLst>
                    <a:lin ang="18000000" scaled="0"/>
                  </a:gradFill>
                  <a:ln w="15875">
                    <a:solidFill>
                      <a:srgbClr val="4D566F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7CB2380E-EFC9-E0DC-330E-377C60B56FF7}"/>
                      </a:ext>
                    </a:extLst>
                  </p:cNvPr>
                  <p:cNvGrpSpPr/>
                  <p:nvPr/>
                </p:nvGrpSpPr>
                <p:grpSpPr>
                  <a:xfrm>
                    <a:off x="2916605" y="2654597"/>
                    <a:ext cx="2615601" cy="565811"/>
                    <a:chOff x="2916605" y="2654597"/>
                    <a:chExt cx="2615601" cy="565811"/>
                  </a:xfrm>
                </p:grpSpPr>
                <p:sp>
                  <p:nvSpPr>
                    <p:cNvPr id="52" name="Rectangle: Diagonal Corners Rounded 51">
                      <a:extLst>
                        <a:ext uri="{FF2B5EF4-FFF2-40B4-BE49-F238E27FC236}">
                          <a16:creationId xmlns:a16="http://schemas.microsoft.com/office/drawing/2014/main" id="{D6E3B760-5D40-CE87-778F-C11375FCB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6605" y="2654597"/>
                      <a:ext cx="2615601" cy="565811"/>
                    </a:xfrm>
                    <a:prstGeom prst="round2DiagRect">
                      <a:avLst>
                        <a:gd name="adj1" fmla="val 8900"/>
                        <a:gd name="adj2" fmla="val 0"/>
                      </a:avLst>
                    </a:prstGeom>
                    <a:gradFill flip="none" rotWithShape="1">
                      <a:gsLst>
                        <a:gs pos="0">
                          <a:srgbClr val="313849"/>
                        </a:gs>
                        <a:gs pos="48000">
                          <a:srgbClr val="4B546D"/>
                        </a:gs>
                        <a:gs pos="98000">
                          <a:srgbClr val="6E7A9B"/>
                        </a:gs>
                      </a:gsLst>
                      <a:lin ang="18000000" scaled="0"/>
                      <a:tileRect/>
                    </a:gradFill>
                    <a:ln>
                      <a:solidFill>
                        <a:srgbClr val="569B96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37CB5814-7BC0-CEF4-136C-2F2199B6B6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90478" y="2656385"/>
                      <a:ext cx="175323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Bank | ACH Network</a:t>
                      </a:r>
                    </a:p>
                  </p:txBody>
                </p:sp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179D4002-9AC2-44F6-6FAE-44B69C2C61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2044" y="2902819"/>
                      <a:ext cx="1529586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Merchant ACH Processing</a:t>
                      </a:r>
                    </a:p>
                  </p:txBody>
                </p:sp>
              </p:grp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CEFA192-0BAD-D0BD-05BE-372D19F51467}"/>
                    </a:ext>
                  </a:extLst>
                </p:cNvPr>
                <p:cNvSpPr txBox="1"/>
                <p:nvPr/>
              </p:nvSpPr>
              <p:spPr>
                <a:xfrm>
                  <a:off x="3169848" y="2678047"/>
                  <a:ext cx="1533753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Merchant ACH initiation</a:t>
                  </a:r>
                </a:p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Broker account funding</a:t>
                  </a:r>
                </a:p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Settlement movement</a:t>
                  </a:r>
                </a:p>
                <a:p>
                  <a:pPr marL="91440" indent="-91440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Account validation</a:t>
                  </a:r>
                </a:p>
              </p:txBody>
            </p:sp>
          </p:grpSp>
          <p:pic>
            <p:nvPicPr>
              <p:cNvPr id="57" name="Graphic 56" descr="Credit card outline">
                <a:extLst>
                  <a:ext uri="{FF2B5EF4-FFF2-40B4-BE49-F238E27FC236}">
                    <a16:creationId xmlns:a16="http://schemas.microsoft.com/office/drawing/2014/main" id="{4C1D5D18-0677-127D-F15B-BAA9609E8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027930" y="2203584"/>
                <a:ext cx="529593" cy="529593"/>
              </a:xfrm>
              <a:prstGeom prst="rect">
                <a:avLst/>
              </a:prstGeom>
            </p:spPr>
          </p:pic>
        </p:grp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889CDB95-A698-ED04-D4D0-D4A50CACFAB9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 rot="16200000" flipH="1">
              <a:off x="5029283" y="3475445"/>
              <a:ext cx="959440" cy="835774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916D567-62DF-55D4-E877-81AAA9EBB4FF}"/>
                </a:ext>
              </a:extLst>
            </p:cNvPr>
            <p:cNvCxnSpPr>
              <a:cxnSpLocks/>
              <a:stCxn id="3" idx="1"/>
              <a:endCxn id="29" idx="3"/>
            </p:cNvCxnSpPr>
            <p:nvPr/>
          </p:nvCxnSpPr>
          <p:spPr>
            <a:xfrm>
              <a:off x="4518243" y="1446924"/>
              <a:ext cx="1" cy="43091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FF88392-31C0-66A6-991A-8C44134C6CE8}"/>
                </a:ext>
              </a:extLst>
            </p:cNvPr>
            <p:cNvSpPr txBox="1"/>
            <p:nvPr/>
          </p:nvSpPr>
          <p:spPr>
            <a:xfrm>
              <a:off x="1378848" y="2353816"/>
              <a:ext cx="11860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JSON Events</a:t>
              </a:r>
            </a:p>
            <a:p>
              <a:pPr algn="r"/>
              <a:r>
                <a:rPr 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Secure API Webhook</a:t>
              </a:r>
            </a:p>
          </p:txBody>
        </p: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0B208172-6FF8-E62F-27FF-1FCB4A88594A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V="1">
              <a:off x="3514079" y="3423032"/>
              <a:ext cx="851764" cy="921133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9F790F8-78BB-198F-9717-8D4B05BAF633}"/>
                </a:ext>
              </a:extLst>
            </p:cNvPr>
            <p:cNvSpPr txBox="1"/>
            <p:nvPr/>
          </p:nvSpPr>
          <p:spPr>
            <a:xfrm>
              <a:off x="3497986" y="4122708"/>
              <a:ext cx="9104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Confirmations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6D54540-3D61-DC78-9963-C1BE8D14CC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4079" y="4742121"/>
              <a:ext cx="2412811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83">
              <a:extLst>
                <a:ext uri="{FF2B5EF4-FFF2-40B4-BE49-F238E27FC236}">
                  <a16:creationId xmlns:a16="http://schemas.microsoft.com/office/drawing/2014/main" id="{D6C12B3E-212F-C9B4-9968-8BCFF9A605E6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 rot="5400000">
              <a:off x="3365007" y="3572104"/>
              <a:ext cx="538692" cy="240548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155A7F4-2A97-634D-C73D-48C9B5E3F6C0}"/>
                </a:ext>
              </a:extLst>
            </p:cNvPr>
            <p:cNvSpPr txBox="1"/>
            <p:nvPr/>
          </p:nvSpPr>
          <p:spPr>
            <a:xfrm>
              <a:off x="2877413" y="3438611"/>
              <a:ext cx="9104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Buy Orders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1617A4C-151D-12F2-0470-F210E2D29ED8}"/>
                </a:ext>
              </a:extLst>
            </p:cNvPr>
            <p:cNvSpPr txBox="1"/>
            <p:nvPr/>
          </p:nvSpPr>
          <p:spPr>
            <a:xfrm>
              <a:off x="3615070" y="4742121"/>
              <a:ext cx="22172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ACH Payments from Merchant to Broker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7774AFB-05FB-7823-4317-205EA1F31117}"/>
                </a:ext>
              </a:extLst>
            </p:cNvPr>
            <p:cNvSpPr txBox="1"/>
            <p:nvPr/>
          </p:nvSpPr>
          <p:spPr>
            <a:xfrm>
              <a:off x="5086055" y="3496013"/>
              <a:ext cx="840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ACH Payment Instructions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0902DB4-00BF-BB0F-D5DF-1711F6C6BE79}"/>
                </a:ext>
              </a:extLst>
            </p:cNvPr>
            <p:cNvCxnSpPr>
              <a:cxnSpLocks/>
            </p:cNvCxnSpPr>
            <p:nvPr/>
          </p:nvCxnSpPr>
          <p:spPr>
            <a:xfrm>
              <a:off x="3615069" y="1442678"/>
              <a:ext cx="1" cy="43091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7C5C5BE-EFF0-ED9E-6BB5-B9A6608EC688}"/>
                </a:ext>
              </a:extLst>
            </p:cNvPr>
            <p:cNvSpPr txBox="1"/>
            <p:nvPr/>
          </p:nvSpPr>
          <p:spPr>
            <a:xfrm>
              <a:off x="4525558" y="1483001"/>
              <a:ext cx="1208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Point conversion &amp; reconciliation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ECA5F65-F741-2659-D4C8-F616449F7BB4}"/>
                </a:ext>
              </a:extLst>
            </p:cNvPr>
            <p:cNvSpPr txBox="1"/>
            <p:nvPr/>
          </p:nvSpPr>
          <p:spPr>
            <a:xfrm>
              <a:off x="2745566" y="1456299"/>
              <a:ext cx="91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Member onboarding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B88FE78-6F96-3DCE-8702-92A60FB7CA28}"/>
                </a:ext>
              </a:extLst>
            </p:cNvPr>
            <p:cNvSpPr txBox="1"/>
            <p:nvPr/>
          </p:nvSpPr>
          <p:spPr>
            <a:xfrm>
              <a:off x="6343071" y="2466070"/>
              <a:ext cx="1116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Non-Custodial</a:t>
              </a:r>
            </a:p>
            <a:p>
              <a:r>
                <a:rPr 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 Fund Held</a:t>
              </a:r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DD84156C-4BAF-8F94-77FD-12851EA84B3B}"/>
                </a:ext>
              </a:extLst>
            </p:cNvPr>
            <p:cNvGrpSpPr/>
            <p:nvPr/>
          </p:nvGrpSpPr>
          <p:grpSpPr>
            <a:xfrm>
              <a:off x="2793867" y="1876046"/>
              <a:ext cx="3448753" cy="1546986"/>
              <a:chOff x="2793867" y="1876046"/>
              <a:chExt cx="3448753" cy="1546986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6C0546D-8B13-8F0D-BEA6-32DB8E8068DD}"/>
                  </a:ext>
                </a:extLst>
              </p:cNvPr>
              <p:cNvGrpSpPr/>
              <p:nvPr/>
            </p:nvGrpSpPr>
            <p:grpSpPr>
              <a:xfrm>
                <a:off x="2793867" y="1876046"/>
                <a:ext cx="3448753" cy="1546986"/>
                <a:chOff x="2916605" y="2654597"/>
                <a:chExt cx="3448753" cy="1546986"/>
              </a:xfrm>
            </p:grpSpPr>
            <p:sp>
              <p:nvSpPr>
                <p:cNvPr id="29" name="Rectangle: Diagonal Corners Rounded 28">
                  <a:extLst>
                    <a:ext uri="{FF2B5EF4-FFF2-40B4-BE49-F238E27FC236}">
                      <a16:creationId xmlns:a16="http://schemas.microsoft.com/office/drawing/2014/main" id="{083B5028-9D11-4AD1-D66F-048515336B3B}"/>
                    </a:ext>
                  </a:extLst>
                </p:cNvPr>
                <p:cNvSpPr/>
                <p:nvPr/>
              </p:nvSpPr>
              <p:spPr>
                <a:xfrm>
                  <a:off x="2916605" y="2656385"/>
                  <a:ext cx="3448753" cy="1545198"/>
                </a:xfrm>
                <a:prstGeom prst="round2DiagRect">
                  <a:avLst>
                    <a:gd name="adj1" fmla="val 3746"/>
                    <a:gd name="adj2" fmla="val 0"/>
                  </a:avLst>
                </a:prstGeom>
                <a:gradFill>
                  <a:gsLst>
                    <a:gs pos="0">
                      <a:srgbClr val="D7F2ED"/>
                    </a:gs>
                    <a:gs pos="48000">
                      <a:srgbClr val="F0FCFA"/>
                    </a:gs>
                    <a:gs pos="97000">
                      <a:srgbClr val="FFFFFF"/>
                    </a:gs>
                  </a:gsLst>
                  <a:lin ang="18000000" scaled="0"/>
                </a:gradFill>
                <a:ln w="15875">
                  <a:solidFill>
                    <a:srgbClr val="569B96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BD31F52D-B262-02CD-2B70-AB810AC72E46}"/>
                    </a:ext>
                  </a:extLst>
                </p:cNvPr>
                <p:cNvGrpSpPr/>
                <p:nvPr/>
              </p:nvGrpSpPr>
              <p:grpSpPr>
                <a:xfrm>
                  <a:off x="2916605" y="2654597"/>
                  <a:ext cx="3448753" cy="565811"/>
                  <a:chOff x="2916605" y="2654597"/>
                  <a:chExt cx="3448753" cy="565811"/>
                </a:xfrm>
              </p:grpSpPr>
              <p:sp>
                <p:nvSpPr>
                  <p:cNvPr id="25" name="Rectangle: Diagonal Corners Rounded 24">
                    <a:extLst>
                      <a:ext uri="{FF2B5EF4-FFF2-40B4-BE49-F238E27FC236}">
                        <a16:creationId xmlns:a16="http://schemas.microsoft.com/office/drawing/2014/main" id="{1DC31754-4F3E-B228-C6EB-7B81B0A55D3F}"/>
                      </a:ext>
                    </a:extLst>
                  </p:cNvPr>
                  <p:cNvSpPr/>
                  <p:nvPr/>
                </p:nvSpPr>
                <p:spPr>
                  <a:xfrm>
                    <a:off x="2916605" y="2654597"/>
                    <a:ext cx="3448753" cy="565811"/>
                  </a:xfrm>
                  <a:prstGeom prst="round2DiagRect">
                    <a:avLst>
                      <a:gd name="adj1" fmla="val 8900"/>
                      <a:gd name="adj2" fmla="val 0"/>
                    </a:avLst>
                  </a:prstGeom>
                  <a:gradFill flip="none" rotWithShape="1">
                    <a:gsLst>
                      <a:gs pos="0">
                        <a:srgbClr val="417977"/>
                      </a:gs>
                      <a:gs pos="48000">
                        <a:srgbClr val="569B96"/>
                      </a:gs>
                      <a:gs pos="98000">
                        <a:srgbClr val="6EC3BA"/>
                      </a:gs>
                    </a:gsLst>
                    <a:lin ang="18000000" scaled="0"/>
                    <a:tileRect/>
                  </a:gradFill>
                  <a:ln>
                    <a:solidFill>
                      <a:srgbClr val="569B96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8CCE338-2317-50C5-2A77-DF330AA59827}"/>
                      </a:ext>
                    </a:extLst>
                  </p:cNvPr>
                  <p:cNvSpPr txBox="1"/>
                  <p:nvPr/>
                </p:nvSpPr>
                <p:spPr>
                  <a:xfrm>
                    <a:off x="3540862" y="2656385"/>
                    <a:ext cx="1624547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</a:rPr>
                      <a:t>Stock</a:t>
                    </a:r>
                    <a:r>
                      <a:rPr lang="en-US" sz="1400" i="1" dirty="0">
                        <a:solidFill>
                          <a:schemeClr val="bg1"/>
                        </a:solidFill>
                      </a:rPr>
                      <a:t>Loyal</a:t>
                    </a:r>
                    <a:r>
                      <a:rPr lang="en-US" sz="1400" dirty="0">
                        <a:solidFill>
                          <a:schemeClr val="bg1"/>
                        </a:solidFill>
                      </a:rPr>
                      <a:t> Platform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DA7B5E9-69F5-FB88-D67E-03C67C1EFA00}"/>
                      </a:ext>
                    </a:extLst>
                  </p:cNvPr>
                  <p:cNvSpPr txBox="1"/>
                  <p:nvPr/>
                </p:nvSpPr>
                <p:spPr>
                  <a:xfrm>
                    <a:off x="3512428" y="2902819"/>
                    <a:ext cx="2442656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</a:rPr>
                      <a:t>Conversion &amp; Order Orchestration Engine</a:t>
                    </a:r>
                  </a:p>
                </p:txBody>
              </p:sp>
              <p:pic>
                <p:nvPicPr>
                  <p:cNvPr id="28" name="Graphic 27" descr="Single gear outline">
                    <a:extLst>
                      <a:ext uri="{FF2B5EF4-FFF2-40B4-BE49-F238E27FC236}">
                        <a16:creationId xmlns:a16="http://schemas.microsoft.com/office/drawing/2014/main" id="{70E951BE-52B0-CF03-8E98-8A54230A980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00151" y="2696464"/>
                    <a:ext cx="502680" cy="50268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93F670-5F61-068F-D073-A4A80BC8A7A7}"/>
                  </a:ext>
                </a:extLst>
              </p:cNvPr>
              <p:cNvSpPr txBox="1"/>
              <p:nvPr/>
            </p:nvSpPr>
            <p:spPr>
              <a:xfrm>
                <a:off x="3039942" y="2466070"/>
                <a:ext cx="175657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Points-to-cash conversion logic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Basket stock allocation engine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Points reservation coordination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Order lifecycle management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Audit &amp; reconciliation engine</a:t>
                </a:r>
              </a:p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Portfolio tracking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3A0C8C-2894-9D9A-CE2D-BE60FC22F758}"/>
                  </a:ext>
                </a:extLst>
              </p:cNvPr>
              <p:cNvSpPr txBox="1"/>
              <p:nvPr/>
            </p:nvSpPr>
            <p:spPr>
              <a:xfrm>
                <a:off x="5105292" y="2752529"/>
                <a:ext cx="111667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Monthly Sweeps</a:t>
                </a:r>
              </a:p>
            </p:txBody>
          </p:sp>
          <p:pic>
            <p:nvPicPr>
              <p:cNvPr id="95" name="Graphic 94" descr="Repeat outline">
                <a:extLst>
                  <a:ext uri="{FF2B5EF4-FFF2-40B4-BE49-F238E27FC236}">
                    <a16:creationId xmlns:a16="http://schemas.microsoft.com/office/drawing/2014/main" id="{CC24E5B5-3D47-2716-842A-265237F411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860305" y="2708665"/>
                <a:ext cx="313230" cy="31323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621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D2A6-D300-BBFD-FB03-27B53991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6D5538B-381F-7BA8-2B57-7D12D6535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666673"/>
              </p:ext>
            </p:extLst>
          </p:nvPr>
        </p:nvGraphicFramePr>
        <p:xfrm>
          <a:off x="678269" y="887197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4A02F6F-CEB4-BD59-FE83-0887FB212CEB}"/>
              </a:ext>
            </a:extLst>
          </p:cNvPr>
          <p:cNvSpPr txBox="1"/>
          <p:nvPr/>
        </p:nvSpPr>
        <p:spPr>
          <a:xfrm>
            <a:off x="595423" y="326065"/>
            <a:ext cx="7102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Member Investment Process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6C7734-4E81-BCE9-CA92-530B2FB52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0714" y="4487240"/>
            <a:ext cx="1102571" cy="33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AA7D-7BE0-C68D-527D-B8DDD2B0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1A31543-0682-4E82-B8D1-455959960C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0393121"/>
              </p:ext>
            </p:extLst>
          </p:nvPr>
        </p:nvGraphicFramePr>
        <p:xfrm>
          <a:off x="678269" y="887197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68E82C-A971-57B2-2DA7-28D3D5190A93}"/>
              </a:ext>
            </a:extLst>
          </p:cNvPr>
          <p:cNvSpPr txBox="1"/>
          <p:nvPr/>
        </p:nvSpPr>
        <p:spPr>
          <a:xfrm>
            <a:off x="595423" y="326065"/>
            <a:ext cx="7102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Monthly Sweep Process Pipeline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C7218-4D00-AA52-9FB6-D5A6A3910C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0714" y="4487240"/>
            <a:ext cx="1102571" cy="33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</TotalTime>
  <Words>491</Words>
  <Application>Microsoft Office PowerPoint</Application>
  <PresentationFormat>On-screen Show (16:9)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StockLoyal Data Flow</dc:title>
  <dc:subject>PptxGenJS Presentation</dc:subject>
  <dc:creator>StockLoyal</dc:creator>
  <cp:lastModifiedBy>Robert Iannone</cp:lastModifiedBy>
  <cp:revision>5</cp:revision>
  <dcterms:created xsi:type="dcterms:W3CDTF">2026-02-02T19:46:19Z</dcterms:created>
  <dcterms:modified xsi:type="dcterms:W3CDTF">2026-02-22T00:48:58Z</dcterms:modified>
</cp:coreProperties>
</file>